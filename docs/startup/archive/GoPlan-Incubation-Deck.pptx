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50450b7be841e8" /><Relationship Type="http://schemas.openxmlformats.org/officeDocument/2006/relationships/extended-properties" Target="/docProps/app.xml" Id="R4e3974eea34c4e0a" /><Relationship Type="http://schemas.openxmlformats.org/officeDocument/2006/relationships/officeDocument" Target="/ppt/presentation.xml" Id="Rd2175e66c8684bf9" /></Relationships>
</file>

<file path=ppt/presentation.xml><?xml version="1.0" encoding="utf-8"?>
<p:presentation xmlns:p="http://schemas.openxmlformats.org/presentationml/2006/main">
  <p:sldMasterIdLst>
    <p:sldMasterId xmlns:r="http://schemas.openxmlformats.org/officeDocument/2006/relationships" id="2147483648" r:id="R5f2c82ef84354775"/>
  </p:sldMasterIdLst>
  <p:notesMasterIdLst>
    <p:notesMasterId xmlns:r="http://schemas.openxmlformats.org/officeDocument/2006/relationships" r:id="Rd3367a5f7ad842b7"/>
  </p:notesMasterIdLst>
  <p:sldIdLst>
    <p:sldId xmlns:r="http://schemas.openxmlformats.org/officeDocument/2006/relationships" id="256" r:id="R922f11fd0ee44d70"/>
    <p:sldId xmlns:r="http://schemas.openxmlformats.org/officeDocument/2006/relationships" id="257" r:id="R854fe5c3be6b46ce"/>
    <p:sldId xmlns:r="http://schemas.openxmlformats.org/officeDocument/2006/relationships" id="258" r:id="Rc41ea99d61184215"/>
    <p:sldId xmlns:r="http://schemas.openxmlformats.org/officeDocument/2006/relationships" id="259" r:id="Rdc19912d662a4730"/>
    <p:sldId xmlns:r="http://schemas.openxmlformats.org/officeDocument/2006/relationships" id="260" r:id="R54afc99893a64e68"/>
    <p:sldId xmlns:r="http://schemas.openxmlformats.org/officeDocument/2006/relationships" id="261" r:id="R34fe3af9fb294049"/>
    <p:sldId xmlns:r="http://schemas.openxmlformats.org/officeDocument/2006/relationships" id="262" r:id="R92bd61073e664644"/>
    <p:sldId xmlns:r="http://schemas.openxmlformats.org/officeDocument/2006/relationships" id="263" r:id="R2ed9d6e3d1c146c7"/>
    <p:sldId xmlns:r="http://schemas.openxmlformats.org/officeDocument/2006/relationships" id="264" r:id="Rf621ae30b92b4d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930048c7ca41d1" /><Relationship Type="http://schemas.openxmlformats.org/officeDocument/2006/relationships/slideMaster" Target="/ppt/slideMasters/slideMaster1.xml" Id="R5f2c82ef84354775" /><Relationship Type="http://schemas.openxmlformats.org/officeDocument/2006/relationships/notesMaster" Target="/ppt/notesMasters/notesMaster1.xml" Id="Rd3367a5f7ad842b7" /><Relationship Type="http://schemas.openxmlformats.org/officeDocument/2006/relationships/presProps" Target="/ppt/presProps.xml" Id="R877a9077b16f49b2" /><Relationship Type="http://schemas.openxmlformats.org/officeDocument/2006/relationships/tableStyles" Target="/ppt/tableStyles.xml" Id="Ra2b7a60f780343db" /><Relationship Type="http://schemas.openxmlformats.org/officeDocument/2006/relationships/slide" Target="/ppt/slides/slide1.xml" Id="R922f11fd0ee44d70" /><Relationship Type="http://schemas.openxmlformats.org/officeDocument/2006/relationships/slide" Target="/ppt/slides/slide2.xml" Id="R854fe5c3be6b46ce" /><Relationship Type="http://schemas.openxmlformats.org/officeDocument/2006/relationships/slide" Target="/ppt/slides/slide3.xml" Id="Rc41ea99d61184215" /><Relationship Type="http://schemas.openxmlformats.org/officeDocument/2006/relationships/slide" Target="/ppt/slides/slide4.xml" Id="Rdc19912d662a4730" /><Relationship Type="http://schemas.openxmlformats.org/officeDocument/2006/relationships/slide" Target="/ppt/slides/slide5.xml" Id="R54afc99893a64e68" /><Relationship Type="http://schemas.openxmlformats.org/officeDocument/2006/relationships/slide" Target="/ppt/slides/slide6.xml" Id="R34fe3af9fb294049" /><Relationship Type="http://schemas.openxmlformats.org/officeDocument/2006/relationships/slide" Target="/ppt/slides/slide7.xml" Id="R92bd61073e664644" /><Relationship Type="http://schemas.openxmlformats.org/officeDocument/2006/relationships/slide" Target="/ppt/slides/slide8.xml" Id="R2ed9d6e3d1c146c7" /><Relationship Type="http://schemas.openxmlformats.org/officeDocument/2006/relationships/slide" Target="/ppt/slides/slide9.xml" Id="Rf621ae30b92b4d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1b678d839b42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6e66b2827e41e4" /><Relationship Type="http://schemas.openxmlformats.org/officeDocument/2006/relationships/notesMaster" Target="/ppt/notesMasters/notesMaster1.xml" Id="R6a70a2a491f549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6f9ed6c2f64d93" /><Relationship Type="http://schemas.openxmlformats.org/officeDocument/2006/relationships/notesMaster" Target="/ppt/notesMasters/notesMaster1.xml" Id="Rfa23ad07801044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092fe42f714b50" /><Relationship Type="http://schemas.openxmlformats.org/officeDocument/2006/relationships/notesMaster" Target="/ppt/notesMasters/notesMaster1.xml" Id="R7ed27d8a21cc47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5ac0d03a0848e9" /><Relationship Type="http://schemas.openxmlformats.org/officeDocument/2006/relationships/notesMaster" Target="/ppt/notesMasters/notesMaster1.xml" Id="Rc1762e58f7ef49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c0493abcb74d79" /><Relationship Type="http://schemas.openxmlformats.org/officeDocument/2006/relationships/notesMaster" Target="/ppt/notesMasters/notesMaster1.xml" Id="R0aef0b49634445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5676c2ccff4cef" /><Relationship Type="http://schemas.openxmlformats.org/officeDocument/2006/relationships/notesMaster" Target="/ppt/notesMasters/notesMaster1.xml" Id="R972fb0a5e48d4b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4ec19fec99400d" /><Relationship Type="http://schemas.openxmlformats.org/officeDocument/2006/relationships/notesMaster" Target="/ppt/notesMasters/notesMaster1.xml" Id="R851ae1d71c584c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bc0ee6813a4c76" /><Relationship Type="http://schemas.openxmlformats.org/officeDocument/2006/relationships/notesMaster" Target="/ppt/notesMasters/notesMaster1.xml" Id="R010c4352d1794c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aa80a929544704" /><Relationship Type="http://schemas.openxmlformats.org/officeDocument/2006/relationships/notesMaster" Target="/ppt/notesMasters/notesMaster1.xml" Id="R519cfd8d5d314c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GoPlan is an independent student project. Sources: GoPlan MVP PRD.docx and GoPlan-public/GoPlan-public/README.md. Founder and stage supplied by Soulaymane Alahiane. The project is seeking its first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GoPlan MVP PRD.docx, problem statement and target users. These are product hypotheses. There are no user interviews, outcome measurements or quantified demand claims supplied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GoPlan MVP PRD.docx; GoPlan-public/GoPlan-public/README.md; docs/ARCHITECTURE.md. The MVP includes guided recommendations, requirement checks, semester planning, progress preservation, replanning, company and exchange targets, cloud accounts, exports, feedback and private analytics. GoPlan uses reviewed AUI program data. AI recommends choices and a rules engine checks requirements. The app does not connect to live registration and does not guarantee course availability or academic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GoPlan MVP PRD.docx and README.md for initial users and local scope. Stellic product description: https://www.stellic.com/ (accessed 6 October 2026). Its platform covers planning, degree audit and advising. Advisers, catalogues and spreadsheets are approaches considered by the founder, not a measured survey of student use. GoPlan positioning is a hypothesis to validate, not a claim of exclusive features or proven advantage. AUI is an initial context and target for a pilot, not a signed partner. Expansion requires reviewed data for each university. Market size and institutional willingness to pay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statement: MVP only, no current users, revenue or partnerships. Product source: README.md and GoPlan MVP PRD.docx. Pilot metrics are proposed. No performance, retention, accuracy or cost outcomes have been measured for this pitch. Functional test coverage is evidence of engineering checks, not traction or live model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 explicitly has no chosen pricing model and seeks to develop one during incubation. Both options are proposals, not approved prices or existing contracts. University pilots are a proposed acquisition channel. A student semester pass would need validation of willingness to pay and measured operating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model evidence: GoPlan-public/GoPlan-public/.env.example, README.md and docs/DEPLOYMENT.md specify Groq-hosted openai/gpt-oss-120b. Official public model prices: https://console.groq.com/docs/model/openai/gpt-oss-120b and https://console.groq.com/docs/models (accessed 6 October 2026): USD 0.15 per million non-cached input tokens, USD 0.60 per million output tokens. Calculation is illustrative and is not an observed bill: 50,000 input tokens / 1,000,000 * USD 0.15 + 10,000 output tokens / 1,000,000 * USD 0.60 = USD 0.0135, or approximately USD 0.014 per plan. 1,000 such plans = USD 13.50, before research, retries, revisions and infrastructure. Browser research may involve additional usage and charges: https://console.groq.com/docs/tool-use/built-in-tools/browser-search. Funding request has no fixed amount. Pilot scope and measured costs should determine an event-specific budget. Other funding needs are hosting, storage, authentication email, academic data review, reliability work and pilot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 seeks university partnerships, funding and help developing a sustainable business model. This is a proposed sequence, with no promised dates, signed partners or completed pilot. AUI and other universities are potential pilot contexts only. Each expansion requires approved and reviewed academic requirements. University cooperation on academic review and recruitment is a proposed role, not permission to access student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name and email supplied by user. Sole-founder status supplied by user. Founder leads the GoPlan MVP project. GitHub profile confirmed by the repository origin: https://github.com/soulaymanealahiane/GoPlan. LinkedIn exact URL confirmed by user on 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b05f0367524e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c1732fd8e84ed1" /><Relationship Type="http://schemas.openxmlformats.org/officeDocument/2006/relationships/slideLayout" Target="/ppt/slideLayouts/slideLayout1.xml" Id="Rbbbe586d2c154d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be586d2c154d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61dacd95af426f" /><Relationship Type="http://schemas.openxmlformats.org/officeDocument/2006/relationships/hyperlink" Target="https://planwithgoplan.com" TargetMode="External" Id="R8f28ef3cb5b94625" /><Relationship Type="http://schemas.openxmlformats.org/officeDocument/2006/relationships/notesSlide" Target="/ppt/notesSlides/notesSlide1.xml" Id="Rfb38229ee1f74a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329ca43a8045b4" /><Relationship Type="http://schemas.openxmlformats.org/officeDocument/2006/relationships/notesSlide" Target="/ppt/notesSlides/notesSlide2.xml" Id="Rfac63c96394d46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738c7419a04557" /><Relationship Type="http://schemas.openxmlformats.org/officeDocument/2006/relationships/notesSlide" Target="/ppt/notesSlides/notesSlide3.xml" Id="R31a4d57b212e47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5dad81f19042c3" /><Relationship Type="http://schemas.openxmlformats.org/officeDocument/2006/relationships/notesSlide" Target="/ppt/notesSlides/notesSlide4.xml" Id="R226bb6c7f5a94e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d5be89c9894213" /><Relationship Type="http://schemas.openxmlformats.org/officeDocument/2006/relationships/notesSlide" Target="/ppt/notesSlides/notesSlide5.xml" Id="Ra4d5dbbb96364c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988a42f6562493c" /><Relationship Type="http://schemas.openxmlformats.org/officeDocument/2006/relationships/notesSlide" Target="/ppt/notesSlides/notesSlide6.xml" Id="Ra6f54d29b4864b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2559641c264bb1" /><Relationship Type="http://schemas.openxmlformats.org/officeDocument/2006/relationships/hyperlink" Target="https://console.groq.com/docs/model/openai/gpt-oss-120b" TargetMode="External" Id="R1594bf8e1a75468c" /><Relationship Type="http://schemas.openxmlformats.org/officeDocument/2006/relationships/notesSlide" Target="/ppt/notesSlides/notesSlide7.xml" Id="R1092b0f23cbd41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742c5adc3b478c" /><Relationship Type="http://schemas.openxmlformats.org/officeDocument/2006/relationships/notesSlide" Target="/ppt/notesSlides/notesSlide8.xml" Id="Rb0a0418e9b7747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2ca020c55d4400" /><Relationship Type="http://schemas.openxmlformats.org/officeDocument/2006/relationships/hyperlink" Target="mailto:S.Alahiane@aui.ma" TargetMode="External" Id="R12b7b5c170a54939" /><Relationship Type="http://schemas.openxmlformats.org/officeDocument/2006/relationships/hyperlink" Target="https://planwithgoplan.com" TargetMode="External" Id="R0eca41580f4241ed" /><Relationship Type="http://schemas.openxmlformats.org/officeDocument/2006/relationships/hyperlink" Target="https://github.com/soulaymanealahiane" TargetMode="External" Id="R17496286c7ce4afd" /><Relationship Type="http://schemas.openxmlformats.org/officeDocument/2006/relationships/hyperlink" Target="https://www.linkedin.com/in/soulaymane-alahiane-0b18a32b6" TargetMode="External" Id="Raf313b753ef241d6" /><Relationship Type="http://schemas.openxmlformats.org/officeDocument/2006/relationships/notesSlide" Target="/ppt/notesSlides/notesSlide9.xml" Id="R06c3564b97bf4381" /></Relationships>
</file>

<file path=ppt/slides/slide1.xml><?xml version="1.0" encoding="utf-8"?>
<p:sld xmlns:p="http://schemas.openxmlformats.org/presentationml/2006/main">
  <p:cSld>
    <p:bg>
      <p:bgPr>
        <a:solidFill xmlns:a="http://schemas.openxmlformats.org/drawingml/2006/main">
          <a:srgbClr val="143C37"/>
        </a:solidFill>
      </p:bgPr>
    </p:bg>
    <p:spTree>
      <p:nvGrpSpPr>
        <p:cNvPr id="1" name=""/>
        <p:cNvGrpSpPr/>
        <p:nvPr/>
      </p:nvGrpSpPr>
      <p:grpSpPr>
        <a:xfrm xmlns:a="http://schemas.openxmlformats.org/drawingml/2006/main"/>
      </p:grpSpPr>
      <p:sp>
        <p:nvSpPr>
          <p:cNvPr id="7" name="text-1-1">
            <a:extLst xmlns:a="http://schemas.openxmlformats.org/drawingml/2006/main">
              <a:ext uri="{FF2B5EF4-FFF2-40B4-BE49-F238E27FC236}">
                <a16:creationId xmlns:a16="http://schemas.microsoft.com/office/drawing/2014/main" id="{64AE9A14-032C-4CDD-9820-1115B92E9A4F}"/>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CCDFDA"/>
                </a:solidFill>
                <a:latin typeface="Arial"/>
                <a:ea typeface="Arial"/>
                <a:cs typeface="Arial"/>
              </a:defRPr>
            </a:pPr>
            <a:r>
              <a:rPr sz="1650" b="0">
                <a:solidFill>
                  <a:srgbClr val="CCDFDA"/>
                </a:solidFill>
                <a:latin typeface="Arial"/>
                <a:ea typeface="Arial"/>
                <a:cs typeface="Arial"/>
              </a:rPr>
              <a:t>1</a:t>
            </a:r>
          </a:p>
        </p:txBody>
      </p:sp>
      <p:sp>
        <p:nvSpPr>
          <p:cNvPr id="2" name="text-1-2">
            <a:extLst xmlns:a="http://schemas.openxmlformats.org/drawingml/2006/main">
              <a:ext uri="{FF2B5EF4-FFF2-40B4-BE49-F238E27FC236}">
                <a16:creationId xmlns:a16="http://schemas.microsoft.com/office/drawing/2014/main" id="{46C2EA05-DC4F-4A54-BBB1-0AA51E323E48}"/>
              </a:ext>
            </a:extLst>
          </p:cNvPr>
          <p:cNvSpPr>
            <a:spLocks xmlns:a="http://schemas.openxmlformats.org/drawingml/2006/main" noGrp="1"/>
          </p:cNvSpPr>
          <p:nvPr/>
        </p:nvSpPr>
        <p:spPr>
          <a:xfrm xmlns:a="http://schemas.openxmlformats.org/drawingml/2006/main">
            <a:off x="762000" y="13049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FFFFFF"/>
                </a:solidFill>
                <a:latin typeface="Arial"/>
                <a:ea typeface="Arial"/>
                <a:cs typeface="Arial"/>
              </a:defRPr>
            </a:pPr>
            <a:r>
              <a:rPr sz="6600" b="1">
                <a:solidFill>
                  <a:srgbClr val="FFFFFF"/>
                </a:solidFill>
                <a:latin typeface="Arial"/>
                <a:ea typeface="Arial"/>
                <a:cs typeface="Arial"/>
              </a:rPr>
              <a:t>GoPlan</a:t>
            </a:r>
          </a:p>
        </p:txBody>
      </p:sp>
      <p:sp>
        <p:nvSpPr>
          <p:cNvPr id="3" name="text-1-3">
            <a:extLst xmlns:a="http://schemas.openxmlformats.org/drawingml/2006/main">
              <a:ext uri="{FF2B5EF4-FFF2-40B4-BE49-F238E27FC236}">
                <a16:creationId xmlns:a16="http://schemas.microsoft.com/office/drawing/2014/main" id="{93633AA2-2C95-4604-842B-AED07C1920C7}"/>
              </a:ext>
            </a:extLst>
          </p:cNvPr>
          <p:cNvSpPr>
            <a:spLocks xmlns:a="http://schemas.openxmlformats.org/drawingml/2006/main" noGrp="1"/>
          </p:cNvSpPr>
          <p:nvPr/>
        </p:nvSpPr>
        <p:spPr>
          <a:xfrm xmlns:a="http://schemas.openxmlformats.org/drawingml/2006/main">
            <a:off x="762000" y="2619375"/>
            <a:ext cx="1038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FFFFFF"/>
                </a:solidFill>
                <a:latin typeface="Arial"/>
                <a:ea typeface="Arial"/>
                <a:cs typeface="Arial"/>
              </a:defRPr>
            </a:pPr>
            <a:r>
              <a:rPr sz="3000" b="0">
                <a:solidFill>
                  <a:srgbClr val="FFFFFF"/>
                </a:solidFill>
                <a:latin typeface="Arial"/>
                <a:ea typeface="Arial"/>
                <a:cs typeface="Arial"/>
              </a:rPr>
              <a:t>Academic planning for university students</a:t>
            </a:r>
          </a:p>
        </p:txBody>
      </p:sp>
      <p:sp>
        <p:nvSpPr>
          <p:cNvPr id="4" name="text-1-4">
            <a:extLst xmlns:a="http://schemas.openxmlformats.org/drawingml/2006/main">
              <a:ext uri="{FF2B5EF4-FFF2-40B4-BE49-F238E27FC236}">
                <a16:creationId xmlns:a16="http://schemas.microsoft.com/office/drawing/2014/main" id="{FA4E92A2-F197-420B-B0FA-60C7ED364DE9}"/>
              </a:ext>
            </a:extLst>
          </p:cNvPr>
          <p:cNvSpPr>
            <a:spLocks xmlns:a="http://schemas.openxmlformats.org/drawingml/2006/main" noGrp="1"/>
          </p:cNvSpPr>
          <p:nvPr/>
        </p:nvSpPr>
        <p:spPr>
          <a:xfrm xmlns:a="http://schemas.openxmlformats.org/drawingml/2006/main">
            <a:off x="762000" y="353377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CCDFDA"/>
                </a:solidFill>
                <a:latin typeface="Arial"/>
                <a:ea typeface="Arial"/>
                <a:cs typeface="Arial"/>
              </a:defRPr>
            </a:pPr>
            <a:r>
              <a:rPr sz="2250" b="0">
                <a:solidFill>
                  <a:srgbClr val="CCDFDA"/>
                </a:solidFill>
                <a:latin typeface="Arial"/>
                <a:ea typeface="Arial"/>
                <a:cs typeface="Arial"/>
              </a:rPr>
              <a:t>An MVP seeking a university pilot</a:t>
            </a:r>
          </a:p>
        </p:txBody>
      </p:sp>
      <p:sp>
        <p:nvSpPr>
          <p:cNvPr id="5" name="text-1-5">
            <a:extLst xmlns:a="http://schemas.openxmlformats.org/drawingml/2006/main">
              <a:ext uri="{FF2B5EF4-FFF2-40B4-BE49-F238E27FC236}">
                <a16:creationId xmlns:a16="http://schemas.microsoft.com/office/drawing/2014/main" id="{D1D0B508-9BD7-40B2-9780-F929E0B70A92}"/>
              </a:ext>
            </a:extLst>
          </p:cNvPr>
          <p:cNvSpPr>
            <a:spLocks xmlns:a="http://schemas.openxmlformats.org/drawingml/2006/main" noGrp="1"/>
          </p:cNvSpPr>
          <p:nvPr/>
        </p:nvSpPr>
        <p:spPr>
          <a:xfrm xmlns:a="http://schemas.openxmlformats.org/drawingml/2006/main">
            <a:off x="762000" y="4819650"/>
            <a:ext cx="742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Soulaymane Alahiane</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Sole founder</a:t>
            </a:r>
          </a:p>
        </p:txBody>
      </p:sp>
      <p:sp>
        <p:nvSpPr>
          <p:cNvPr id="6" name="text-1-6">
            <a:extLst xmlns:a="http://schemas.openxmlformats.org/drawingml/2006/main">
              <a:ext uri="{FF2B5EF4-FFF2-40B4-BE49-F238E27FC236}">
                <a16:creationId xmlns:a16="http://schemas.microsoft.com/office/drawing/2014/main" id="{FDD86031-D38E-43AF-B459-9030E12EED3F}"/>
              </a:ext>
            </a:extLst>
          </p:cNvPr>
          <p:cNvSpPr>
            <a:spLocks xmlns:a="http://schemas.openxmlformats.org/drawingml/2006/main" noGrp="1"/>
          </p:cNvSpPr>
          <p:nvPr/>
        </p:nvSpPr>
        <p:spPr>
          <a:xfrm xmlns:a="http://schemas.openxmlformats.org/drawingml/2006/main">
            <a:off x="762000" y="60007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CDFDA"/>
                </a:solidFill>
                <a:latin typeface="Arial"/>
                <a:ea typeface="Arial"/>
                <a:cs typeface="Arial"/>
              </a:defRPr>
            </a:pPr>
            <a:r>
              <a:rPr sz="1950" b="0">
                <a:solidFill>
                  <a:srgbClr val="CCDFDA"/>
                </a:solidFill>
                <a:latin typeface="Arial"/>
                <a:ea typeface="Arial"/>
                <a:cs typeface="Arial"/>
                <a:hlinkClick xmlns:r="http://schemas.openxmlformats.org/officeDocument/2006/relationships" r:id="R8f28ef3cb5b94625"/>
              </a:rPr>
              <a:t>planwithgoplan.com</a:t>
            </a:r>
          </a:p>
        </p:txBody>
      </p:sp>
    </p:spTree>
    <p:extLst>
      <p:ext uri="{BB962C8B-B14F-4D97-AF65-F5344CB8AC3E}">
        <p14:creationId xmlns:p14="http://schemas.microsoft.com/office/powerpoint/2010/main" val="6035533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1">
            <a:extLst xmlns:a="http://schemas.openxmlformats.org/drawingml/2006/main">
              <a:ext uri="{FF2B5EF4-FFF2-40B4-BE49-F238E27FC236}">
                <a16:creationId xmlns:a16="http://schemas.microsoft.com/office/drawing/2014/main" id="{67C220A6-1909-4579-87CE-18AC81397E80}"/>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Problem</a:t>
            </a:r>
          </a:p>
        </p:txBody>
      </p:sp>
      <p:sp>
        <p:nvSpPr>
          <p:cNvPr id="2" name="text-2-2">
            <a:extLst xmlns:a="http://schemas.openxmlformats.org/drawingml/2006/main">
              <a:ext uri="{FF2B5EF4-FFF2-40B4-BE49-F238E27FC236}">
                <a16:creationId xmlns:a16="http://schemas.microsoft.com/office/drawing/2014/main" id="{DD2E7108-D2DA-4CD0-B9E6-C6C48CCEEE69}"/>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2</a:t>
            </a:r>
          </a:p>
        </p:txBody>
      </p:sp>
      <p:sp>
        <p:nvSpPr>
          <p:cNvPr id="3" name="text-2-3">
            <a:extLst xmlns:a="http://schemas.openxmlformats.org/drawingml/2006/main">
              <a:ext uri="{FF2B5EF4-FFF2-40B4-BE49-F238E27FC236}">
                <a16:creationId xmlns:a16="http://schemas.microsoft.com/office/drawing/2014/main" id="{DCD19E24-3215-4C77-9716-685BDD28DE21}"/>
              </a:ext>
            </a:extLst>
          </p:cNvPr>
          <p:cNvSpPr>
            <a:spLocks xmlns:a="http://schemas.openxmlformats.org/drawingml/2006/main" noGrp="1"/>
          </p:cNvSpPr>
          <p:nvPr/>
        </p:nvSpPr>
        <p:spPr>
          <a:xfrm xmlns:a="http://schemas.openxmlformats.org/drawingml/2006/main">
            <a:off x="762000" y="17716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Academic choices need a direction</a:t>
            </a:r>
          </a:p>
        </p:txBody>
      </p:sp>
      <p:sp>
        <p:nvSpPr>
          <p:cNvPr id="4" name="text-2-4">
            <a:extLst xmlns:a="http://schemas.openxmlformats.org/drawingml/2006/main">
              <a:ext uri="{FF2B5EF4-FFF2-40B4-BE49-F238E27FC236}">
                <a16:creationId xmlns:a16="http://schemas.microsoft.com/office/drawing/2014/main" id="{519D833A-8445-40AB-BBFD-C48864CBAE91}"/>
              </a:ext>
            </a:extLst>
          </p:cNvPr>
          <p:cNvSpPr>
            <a:spLocks xmlns:a="http://schemas.openxmlformats.org/drawingml/2006/main" noGrp="1"/>
          </p:cNvSpPr>
          <p:nvPr/>
        </p:nvSpPr>
        <p:spPr>
          <a:xfrm xmlns:a="http://schemas.openxmlformats.org/drawingml/2006/main">
            <a:off x="762000" y="22383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Students need to connect their interests and career goals</a:t>
            </a:r>
          </a:p>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with degree, minor and elective choices.</a:t>
            </a:r>
          </a:p>
        </p:txBody>
      </p:sp>
      <p:sp>
        <p:nvSpPr>
          <p:cNvPr id="5" name="text-2-5">
            <a:extLst xmlns:a="http://schemas.openxmlformats.org/drawingml/2006/main">
              <a:ext uri="{FF2B5EF4-FFF2-40B4-BE49-F238E27FC236}">
                <a16:creationId xmlns:a16="http://schemas.microsoft.com/office/drawing/2014/main" id="{D6889B1A-8DF2-40CB-A56C-E44F6CCB1109}"/>
              </a:ext>
            </a:extLst>
          </p:cNvPr>
          <p:cNvSpPr>
            <a:spLocks xmlns:a="http://schemas.openxmlformats.org/drawingml/2006/main" noGrp="1"/>
          </p:cNvSpPr>
          <p:nvPr/>
        </p:nvSpPr>
        <p:spPr>
          <a:xfrm xmlns:a="http://schemas.openxmlformats.org/drawingml/2006/main">
            <a:off x="762000" y="33147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A degree plan needs regular updates</a:t>
            </a:r>
          </a:p>
        </p:txBody>
      </p:sp>
      <p:sp>
        <p:nvSpPr>
          <p:cNvPr id="6" name="text-2-6">
            <a:extLst xmlns:a="http://schemas.openxmlformats.org/drawingml/2006/main">
              <a:ext uri="{FF2B5EF4-FFF2-40B4-BE49-F238E27FC236}">
                <a16:creationId xmlns:a16="http://schemas.microsoft.com/office/drawing/2014/main" id="{2BA788F3-B9EA-43C7-9271-0D1959B6509D}"/>
              </a:ext>
            </a:extLst>
          </p:cNvPr>
          <p:cNvSpPr>
            <a:spLocks xmlns:a="http://schemas.openxmlformats.org/drawingml/2006/main" noGrp="1"/>
          </p:cNvSpPr>
          <p:nvPr/>
        </p:nvSpPr>
        <p:spPr>
          <a:xfrm xmlns:a="http://schemas.openxmlformats.org/drawingml/2006/main">
            <a:off x="762000" y="37814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Unavailable courses and changing goals can alter</a:t>
            </a:r>
          </a:p>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remaining semesters and the expected graduation date.</a:t>
            </a:r>
          </a:p>
        </p:txBody>
      </p:sp>
      <p:sp>
        <p:nvSpPr>
          <p:cNvPr id="7" name="text-2-7">
            <a:extLst xmlns:a="http://schemas.openxmlformats.org/drawingml/2006/main">
              <a:ext uri="{FF2B5EF4-FFF2-40B4-BE49-F238E27FC236}">
                <a16:creationId xmlns:a16="http://schemas.microsoft.com/office/drawing/2014/main" id="{1C2C311E-1575-4DEE-9BA2-0FAF666DC70D}"/>
              </a:ext>
            </a:extLst>
          </p:cNvPr>
          <p:cNvSpPr>
            <a:spLocks xmlns:a="http://schemas.openxmlformats.org/drawingml/2006/main" noGrp="1"/>
          </p:cNvSpPr>
          <p:nvPr/>
        </p:nvSpPr>
        <p:spPr>
          <a:xfrm xmlns:a="http://schemas.openxmlformats.org/drawingml/2006/main">
            <a:off x="762000" y="5105400"/>
            <a:ext cx="1038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72E2C"/>
                </a:solidFill>
                <a:latin typeface="Arial"/>
                <a:ea typeface="Arial"/>
                <a:cs typeface="Arial"/>
              </a:defRPr>
            </a:pPr>
            <a:r>
              <a:rPr sz="2400" b="0">
                <a:solidFill>
                  <a:srgbClr val="172E2C"/>
                </a:solidFill>
                <a:latin typeface="Arial"/>
                <a:ea typeface="Arial"/>
                <a:cs typeface="Arial"/>
              </a:rPr>
              <a:t>Internships and exchange plans also need to fit the degree.</a:t>
            </a:r>
          </a:p>
        </p:txBody>
      </p:sp>
    </p:spTree>
    <p:extLst>
      <p:ext uri="{BB962C8B-B14F-4D97-AF65-F5344CB8AC3E}">
        <p14:creationId xmlns:p14="http://schemas.microsoft.com/office/powerpoint/2010/main" val="19716780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3-1">
            <a:extLst xmlns:a="http://schemas.openxmlformats.org/drawingml/2006/main">
              <a:ext uri="{FF2B5EF4-FFF2-40B4-BE49-F238E27FC236}">
                <a16:creationId xmlns:a16="http://schemas.microsoft.com/office/drawing/2014/main" id="{B97217D7-D1C7-4F8C-BD09-F7DBDB7F854C}"/>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Solution and MVP</a:t>
            </a:r>
          </a:p>
        </p:txBody>
      </p:sp>
      <p:sp>
        <p:nvSpPr>
          <p:cNvPr id="2" name="text-3-2">
            <a:extLst xmlns:a="http://schemas.openxmlformats.org/drawingml/2006/main">
              <a:ext uri="{FF2B5EF4-FFF2-40B4-BE49-F238E27FC236}">
                <a16:creationId xmlns:a16="http://schemas.microsoft.com/office/drawing/2014/main" id="{6ED4B18C-6D9E-40CE-AA6A-A9B85ECFE24D}"/>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3</a:t>
            </a:r>
          </a:p>
        </p:txBody>
      </p:sp>
      <p:sp>
        <p:nvSpPr>
          <p:cNvPr id="3" name="text-3-3">
            <a:extLst xmlns:a="http://schemas.openxmlformats.org/drawingml/2006/main">
              <a:ext uri="{FF2B5EF4-FFF2-40B4-BE49-F238E27FC236}">
                <a16:creationId xmlns:a16="http://schemas.microsoft.com/office/drawing/2014/main" id="{447E59A0-3E86-41BD-975C-00EB818E3AC7}"/>
              </a:ext>
            </a:extLst>
          </p:cNvPr>
          <p:cNvSpPr>
            <a:spLocks xmlns:a="http://schemas.openxmlformats.org/drawingml/2006/main" noGrp="1"/>
          </p:cNvSpPr>
          <p:nvPr/>
        </p:nvSpPr>
        <p:spPr>
          <a:xfrm xmlns:a="http://schemas.openxmlformats.org/drawingml/2006/main">
            <a:off x="762000" y="16573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E2C"/>
                </a:solidFill>
                <a:latin typeface="Arial"/>
                <a:ea typeface="Arial"/>
                <a:cs typeface="Arial"/>
              </a:defRPr>
            </a:pPr>
            <a:r>
              <a:rPr sz="2700" b="1">
                <a:solidFill>
                  <a:srgbClr val="172E2C"/>
                </a:solidFill>
                <a:latin typeface="Arial"/>
                <a:ea typeface="Arial"/>
                <a:cs typeface="Arial"/>
              </a:rPr>
              <a:t>Student goals become an editable semester plan.</a:t>
            </a:r>
          </a:p>
        </p:txBody>
      </p:sp>
      <p:sp>
        <p:nvSpPr>
          <p:cNvPr id="4" name="text-3-4">
            <a:extLst xmlns:a="http://schemas.openxmlformats.org/drawingml/2006/main">
              <a:ext uri="{FF2B5EF4-FFF2-40B4-BE49-F238E27FC236}">
                <a16:creationId xmlns:a16="http://schemas.microsoft.com/office/drawing/2014/main" id="{27D61D5A-F098-4099-A6C6-CD9B0A9EE0C4}"/>
              </a:ext>
            </a:extLst>
          </p:cNvPr>
          <p:cNvSpPr>
            <a:spLocks xmlns:a="http://schemas.openxmlformats.org/drawingml/2006/main" noGrp="1"/>
          </p:cNvSpPr>
          <p:nvPr/>
        </p:nvSpPr>
        <p:spPr>
          <a:xfrm xmlns:a="http://schemas.openxmlformats.org/drawingml/2006/main">
            <a:off x="762000" y="25812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43C37"/>
                </a:solidFill>
                <a:latin typeface="Arial"/>
                <a:ea typeface="Arial"/>
                <a:cs typeface="Arial"/>
              </a:defRPr>
            </a:pPr>
            <a:r>
              <a:rPr sz="2175" b="1">
                <a:solidFill>
                  <a:srgbClr val="143C37"/>
                </a:solidFill>
                <a:latin typeface="Arial"/>
                <a:ea typeface="Arial"/>
                <a:cs typeface="Arial"/>
              </a:rPr>
              <a:t>Academic planning</a:t>
            </a:r>
          </a:p>
        </p:txBody>
      </p:sp>
      <p:sp>
        <p:nvSpPr>
          <p:cNvPr id="5" name="text-3-5">
            <a:extLst xmlns:a="http://schemas.openxmlformats.org/drawingml/2006/main">
              <a:ext uri="{FF2B5EF4-FFF2-40B4-BE49-F238E27FC236}">
                <a16:creationId xmlns:a16="http://schemas.microsoft.com/office/drawing/2014/main" id="{935AE726-F327-44C0-A713-79D2876A02D6}"/>
              </a:ext>
            </a:extLst>
          </p:cNvPr>
          <p:cNvSpPr>
            <a:spLocks xmlns:a="http://schemas.openxmlformats.org/drawingml/2006/main" noGrp="1"/>
          </p:cNvSpPr>
          <p:nvPr/>
        </p:nvSpPr>
        <p:spPr>
          <a:xfrm xmlns:a="http://schemas.openxmlformats.org/drawingml/2006/main">
            <a:off x="762000" y="30480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AI recommends degree, minor and elective choices.</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Academic rules check prerequisites and credit limits.</a:t>
            </a:r>
          </a:p>
        </p:txBody>
      </p:sp>
      <p:sp>
        <p:nvSpPr>
          <p:cNvPr id="6" name="text-3-6">
            <a:extLst xmlns:a="http://schemas.openxmlformats.org/drawingml/2006/main">
              <a:ext uri="{FF2B5EF4-FFF2-40B4-BE49-F238E27FC236}">
                <a16:creationId xmlns:a16="http://schemas.microsoft.com/office/drawing/2014/main" id="{C2F8EC5D-F1A9-48C5-8516-1C429DC109D3}"/>
              </a:ext>
            </a:extLst>
          </p:cNvPr>
          <p:cNvSpPr>
            <a:spLocks xmlns:a="http://schemas.openxmlformats.org/drawingml/2006/main" noGrp="1"/>
          </p:cNvSpPr>
          <p:nvPr/>
        </p:nvSpPr>
        <p:spPr>
          <a:xfrm xmlns:a="http://schemas.openxmlformats.org/drawingml/2006/main">
            <a:off x="762000" y="41529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43C37"/>
                </a:solidFill>
                <a:latin typeface="Arial"/>
                <a:ea typeface="Arial"/>
                <a:cs typeface="Arial"/>
              </a:defRPr>
            </a:pPr>
            <a:r>
              <a:rPr sz="2175" b="1">
                <a:solidFill>
                  <a:srgbClr val="143C37"/>
                </a:solidFill>
                <a:latin typeface="Arial"/>
                <a:ea typeface="Arial"/>
                <a:cs typeface="Arial"/>
              </a:rPr>
              <a:t>Ongoing use</a:t>
            </a:r>
          </a:p>
        </p:txBody>
      </p:sp>
      <p:sp>
        <p:nvSpPr>
          <p:cNvPr id="7" name="text-3-7">
            <a:extLst xmlns:a="http://schemas.openxmlformats.org/drawingml/2006/main">
              <a:ext uri="{FF2B5EF4-FFF2-40B4-BE49-F238E27FC236}">
                <a16:creationId xmlns:a16="http://schemas.microsoft.com/office/drawing/2014/main" id="{3E9D3CBE-CACC-4C6B-A6CF-4BD799552CB2}"/>
              </a:ext>
            </a:extLst>
          </p:cNvPr>
          <p:cNvSpPr>
            <a:spLocks xmlns:a="http://schemas.openxmlformats.org/drawingml/2006/main" noGrp="1"/>
          </p:cNvSpPr>
          <p:nvPr/>
        </p:nvSpPr>
        <p:spPr>
          <a:xfrm xmlns:a="http://schemas.openxmlformats.org/drawingml/2006/main">
            <a:off x="762000" y="46196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Track completed courses, revise the plan and save progress.</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Explore internship and exchange targets. Export to Excel.</a:t>
            </a:r>
          </a:p>
        </p:txBody>
      </p:sp>
      <p:sp>
        <p:nvSpPr>
          <p:cNvPr id="8" name="text-3-8">
            <a:extLst xmlns:a="http://schemas.openxmlformats.org/drawingml/2006/main">
              <a:ext uri="{FF2B5EF4-FFF2-40B4-BE49-F238E27FC236}">
                <a16:creationId xmlns:a16="http://schemas.microsoft.com/office/drawing/2014/main" id="{564E3D83-1741-4D63-B43C-27288D7BCE7E}"/>
              </a:ext>
            </a:extLst>
          </p:cNvPr>
          <p:cNvSpPr>
            <a:spLocks xmlns:a="http://schemas.openxmlformats.org/drawingml/2006/main" noGrp="1"/>
          </p:cNvSpPr>
          <p:nvPr/>
        </p:nvSpPr>
        <p:spPr>
          <a:xfrm xmlns:a="http://schemas.openxmlformats.org/drawingml/2006/main">
            <a:off x="762000" y="5905500"/>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47673"/>
                </a:solidFill>
                <a:latin typeface="Arial"/>
                <a:ea typeface="Arial"/>
                <a:cs typeface="Arial"/>
              </a:defRPr>
            </a:pPr>
            <a:r>
              <a:rPr sz="1800" b="0">
                <a:solidFill>
                  <a:srgbClr val="647673"/>
                </a:solidFill>
                <a:latin typeface="Arial"/>
                <a:ea typeface="Arial"/>
                <a:cs typeface="Arial"/>
              </a:rPr>
              <a:t>Current coverage: supported AUI programs. Adviser review remains necessary.</a:t>
            </a:r>
          </a:p>
        </p:txBody>
      </p:sp>
    </p:spTree>
    <p:extLst>
      <p:ext uri="{BB962C8B-B14F-4D97-AF65-F5344CB8AC3E}">
        <p14:creationId xmlns:p14="http://schemas.microsoft.com/office/powerpoint/2010/main" val="16690343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1">
            <a:extLst xmlns:a="http://schemas.openxmlformats.org/drawingml/2006/main">
              <a:ext uri="{FF2B5EF4-FFF2-40B4-BE49-F238E27FC236}">
                <a16:creationId xmlns:a16="http://schemas.microsoft.com/office/drawing/2014/main" id="{63CDA2D2-0A80-4D75-9534-6B317F1868C9}"/>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Users and alternatives</a:t>
            </a:r>
          </a:p>
        </p:txBody>
      </p:sp>
      <p:sp>
        <p:nvSpPr>
          <p:cNvPr id="2" name="text-4-2">
            <a:extLst xmlns:a="http://schemas.openxmlformats.org/drawingml/2006/main">
              <a:ext uri="{FF2B5EF4-FFF2-40B4-BE49-F238E27FC236}">
                <a16:creationId xmlns:a16="http://schemas.microsoft.com/office/drawing/2014/main" id="{8EB18003-1529-4A66-82AB-E1F818BCC8DA}"/>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4</a:t>
            </a:r>
          </a:p>
        </p:txBody>
      </p:sp>
      <p:sp>
        <p:nvSpPr>
          <p:cNvPr id="3" name="text-4-3">
            <a:extLst xmlns:a="http://schemas.openxmlformats.org/drawingml/2006/main">
              <a:ext uri="{FF2B5EF4-FFF2-40B4-BE49-F238E27FC236}">
                <a16:creationId xmlns:a16="http://schemas.microsoft.com/office/drawing/2014/main" id="{6D852019-F8E2-41D8-9BE0-5347C35C71E1}"/>
              </a:ext>
            </a:extLst>
          </p:cNvPr>
          <p:cNvSpPr>
            <a:spLocks xmlns:a="http://schemas.openxmlformats.org/drawingml/2006/main" noGrp="1"/>
          </p:cNvSpPr>
          <p:nvPr/>
        </p:nvSpPr>
        <p:spPr>
          <a:xfrm xmlns:a="http://schemas.openxmlformats.org/drawingml/2006/main">
            <a:off x="762000" y="16954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Initial users</a:t>
            </a:r>
          </a:p>
        </p:txBody>
      </p:sp>
      <p:sp>
        <p:nvSpPr>
          <p:cNvPr id="4" name="text-4-4">
            <a:extLst xmlns:a="http://schemas.openxmlformats.org/drawingml/2006/main">
              <a:ext uri="{FF2B5EF4-FFF2-40B4-BE49-F238E27FC236}">
                <a16:creationId xmlns:a16="http://schemas.microsoft.com/office/drawing/2014/main" id="{40E98918-B8F5-4B25-A0A0-EEB12864356E}"/>
              </a:ext>
            </a:extLst>
          </p:cNvPr>
          <p:cNvSpPr>
            <a:spLocks xmlns:a="http://schemas.openxmlformats.org/drawingml/2006/main" noGrp="1"/>
          </p:cNvSpPr>
          <p:nvPr/>
        </p:nvSpPr>
        <p:spPr>
          <a:xfrm xmlns:a="http://schemas.openxmlformats.org/drawingml/2006/main">
            <a:off x="762000" y="2247900"/>
            <a:ext cx="4857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Students choosing a direction</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or revising their degree plan.</a:t>
            </a:r>
          </a:p>
          <a:p xmlns:a="http://schemas.openxmlformats.org/drawingml/2006/main">
            <a:r>
              <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Start with supported AUI programs.</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Expand through university pilots.</a:t>
            </a:r>
          </a:p>
        </p:txBody>
      </p:sp>
      <p:sp>
        <p:nvSpPr>
          <p:cNvPr id="5" name="text-4-5">
            <a:extLst xmlns:a="http://schemas.openxmlformats.org/drawingml/2006/main">
              <a:ext uri="{FF2B5EF4-FFF2-40B4-BE49-F238E27FC236}">
                <a16:creationId xmlns:a16="http://schemas.microsoft.com/office/drawing/2014/main" id="{F4B9CB69-F2AB-4AAF-BBB2-B80469F8C60C}"/>
              </a:ext>
            </a:extLst>
          </p:cNvPr>
          <p:cNvSpPr>
            <a:spLocks xmlns:a="http://schemas.openxmlformats.org/drawingml/2006/main" noGrp="1"/>
          </p:cNvSpPr>
          <p:nvPr/>
        </p:nvSpPr>
        <p:spPr>
          <a:xfrm xmlns:a="http://schemas.openxmlformats.org/drawingml/2006/main">
            <a:off x="6572250" y="16954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Existing approaches</a:t>
            </a:r>
          </a:p>
        </p:txBody>
      </p:sp>
      <p:sp>
        <p:nvSpPr>
          <p:cNvPr id="6" name="text-4-6">
            <a:extLst xmlns:a="http://schemas.openxmlformats.org/drawingml/2006/main">
              <a:ext uri="{FF2B5EF4-FFF2-40B4-BE49-F238E27FC236}">
                <a16:creationId xmlns:a16="http://schemas.microsoft.com/office/drawing/2014/main" id="{EA4D6B62-95E4-4265-9E51-1BBFB28823F8}"/>
              </a:ext>
            </a:extLst>
          </p:cNvPr>
          <p:cNvSpPr>
            <a:spLocks xmlns:a="http://schemas.openxmlformats.org/drawingml/2006/main" noGrp="1"/>
          </p:cNvSpPr>
          <p:nvPr/>
        </p:nvSpPr>
        <p:spPr>
          <a:xfrm xmlns:a="http://schemas.openxmlformats.org/drawingml/2006/main">
            <a:off x="6572250" y="2247900"/>
            <a:ext cx="4857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Advisers, catalogues and</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planning spreadsheets.</a:t>
            </a:r>
          </a:p>
          <a:p xmlns:a="http://schemas.openxmlformats.org/drawingml/2006/main">
            <a:r>
              <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Platforms such as Stellic cover</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degree planning and advising.</a:t>
            </a:r>
          </a:p>
        </p:txBody>
      </p:sp>
      <p:sp>
        <p:nvSpPr>
          <p:cNvPr id="7" name="text-4-7">
            <a:extLst xmlns:a="http://schemas.openxmlformats.org/drawingml/2006/main">
              <a:ext uri="{FF2B5EF4-FFF2-40B4-BE49-F238E27FC236}">
                <a16:creationId xmlns:a16="http://schemas.microsoft.com/office/drawing/2014/main" id="{345E3613-B0CA-43BF-8404-463279157958}"/>
              </a:ext>
            </a:extLst>
          </p:cNvPr>
          <p:cNvSpPr>
            <a:spLocks xmlns:a="http://schemas.openxmlformats.org/drawingml/2006/main" noGrp="1"/>
          </p:cNvSpPr>
          <p:nvPr/>
        </p:nvSpPr>
        <p:spPr>
          <a:xfrm xmlns:a="http://schemas.openxmlformats.org/drawingml/2006/main">
            <a:off x="762000" y="47625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GoPlan focus</a:t>
            </a:r>
          </a:p>
        </p:txBody>
      </p:sp>
      <p:sp>
        <p:nvSpPr>
          <p:cNvPr id="8" name="text-4-8">
            <a:extLst xmlns:a="http://schemas.openxmlformats.org/drawingml/2006/main">
              <a:ext uri="{FF2B5EF4-FFF2-40B4-BE49-F238E27FC236}">
                <a16:creationId xmlns:a16="http://schemas.microsoft.com/office/drawing/2014/main" id="{43A223B4-97C5-4D6E-A70B-A0E0247D8223}"/>
              </a:ext>
            </a:extLst>
          </p:cNvPr>
          <p:cNvSpPr>
            <a:spLocks xmlns:a="http://schemas.openxmlformats.org/drawingml/2006/main" noGrp="1"/>
          </p:cNvSpPr>
          <p:nvPr/>
        </p:nvSpPr>
        <p:spPr>
          <a:xfrm xmlns:a="http://schemas.openxmlformats.org/drawingml/2006/main">
            <a:off x="762000" y="526732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Connect personal goals, checked degree plans and opportunity targets</a:t>
            </a:r>
          </a:p>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in one student workspace.</a:t>
            </a:r>
          </a:p>
        </p:txBody>
      </p:sp>
    </p:spTree>
    <p:extLst>
      <p:ext uri="{BB962C8B-B14F-4D97-AF65-F5344CB8AC3E}">
        <p14:creationId xmlns:p14="http://schemas.microsoft.com/office/powerpoint/2010/main" val="1564378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5-1">
            <a:extLst xmlns:a="http://schemas.openxmlformats.org/drawingml/2006/main">
              <a:ext uri="{FF2B5EF4-FFF2-40B4-BE49-F238E27FC236}">
                <a16:creationId xmlns:a16="http://schemas.microsoft.com/office/drawing/2014/main" id="{5DA557A2-6465-4236-87BC-15F6FA92EC8A}"/>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Current stage</a:t>
            </a:r>
          </a:p>
        </p:txBody>
      </p:sp>
      <p:sp>
        <p:nvSpPr>
          <p:cNvPr id="2" name="text-5-2">
            <a:extLst xmlns:a="http://schemas.openxmlformats.org/drawingml/2006/main">
              <a:ext uri="{FF2B5EF4-FFF2-40B4-BE49-F238E27FC236}">
                <a16:creationId xmlns:a16="http://schemas.microsoft.com/office/drawing/2014/main" id="{E0736403-51F8-4787-84F2-DB34F0B369AC}"/>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5</a:t>
            </a:r>
          </a:p>
        </p:txBody>
      </p:sp>
      <p:sp>
        <p:nvSpPr>
          <p:cNvPr id="3" name="text-5-3">
            <a:extLst xmlns:a="http://schemas.openxmlformats.org/drawingml/2006/main">
              <a:ext uri="{FF2B5EF4-FFF2-40B4-BE49-F238E27FC236}">
                <a16:creationId xmlns:a16="http://schemas.microsoft.com/office/drawing/2014/main" id="{D655ABF4-E6F8-4FE9-9D77-1C3578900ACA}"/>
              </a:ext>
            </a:extLst>
          </p:cNvPr>
          <p:cNvSpPr>
            <a:spLocks xmlns:a="http://schemas.openxmlformats.org/drawingml/2006/main" noGrp="1"/>
          </p:cNvSpPr>
          <p:nvPr/>
        </p:nvSpPr>
        <p:spPr>
          <a:xfrm xmlns:a="http://schemas.openxmlformats.org/drawingml/2006/main">
            <a:off x="762000" y="17049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43C37"/>
                </a:solidFill>
                <a:latin typeface="Arial"/>
                <a:ea typeface="Arial"/>
                <a:cs typeface="Arial"/>
              </a:defRPr>
            </a:pPr>
            <a:r>
              <a:rPr sz="4200" b="1">
                <a:solidFill>
                  <a:srgbClr val="143C37"/>
                </a:solidFill>
                <a:latin typeface="Arial"/>
                <a:ea typeface="Arial"/>
                <a:cs typeface="Arial"/>
              </a:rPr>
              <a:t>MVP built</a:t>
            </a:r>
          </a:p>
        </p:txBody>
      </p:sp>
      <p:sp>
        <p:nvSpPr>
          <p:cNvPr id="4" name="text-5-4">
            <a:extLst xmlns:a="http://schemas.openxmlformats.org/drawingml/2006/main">
              <a:ext uri="{FF2B5EF4-FFF2-40B4-BE49-F238E27FC236}">
                <a16:creationId xmlns:a16="http://schemas.microsoft.com/office/drawing/2014/main" id="{8CBFB434-BE1A-4695-B688-99C6AEAB2BFF}"/>
              </a:ext>
            </a:extLst>
          </p:cNvPr>
          <p:cNvSpPr>
            <a:spLocks xmlns:a="http://schemas.openxmlformats.org/drawingml/2006/main" noGrp="1"/>
          </p:cNvSpPr>
          <p:nvPr/>
        </p:nvSpPr>
        <p:spPr>
          <a:xfrm xmlns:a="http://schemas.openxmlformats.org/drawingml/2006/main">
            <a:off x="762000" y="27432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72E2C"/>
                </a:solidFill>
                <a:latin typeface="Arial"/>
                <a:ea typeface="Arial"/>
                <a:cs typeface="Arial"/>
              </a:defRPr>
            </a:pPr>
            <a:r>
              <a:rPr sz="2700" b="0">
                <a:solidFill>
                  <a:srgbClr val="172E2C"/>
                </a:solidFill>
                <a:latin typeface="Arial"/>
                <a:ea typeface="Arial"/>
                <a:cs typeface="Arial"/>
              </a:rPr>
              <a:t>No users, revenue or signed partners yet.</a:t>
            </a:r>
          </a:p>
        </p:txBody>
      </p:sp>
      <p:sp>
        <p:nvSpPr>
          <p:cNvPr id="5" name="text-5-5">
            <a:extLst xmlns:a="http://schemas.openxmlformats.org/drawingml/2006/main">
              <a:ext uri="{FF2B5EF4-FFF2-40B4-BE49-F238E27FC236}">
                <a16:creationId xmlns:a16="http://schemas.microsoft.com/office/drawing/2014/main" id="{D15DE935-47F6-4299-8D3A-E0DDBD61545B}"/>
              </a:ext>
            </a:extLst>
          </p:cNvPr>
          <p:cNvSpPr>
            <a:spLocks xmlns:a="http://schemas.openxmlformats.org/drawingml/2006/main" noGrp="1"/>
          </p:cNvSpPr>
          <p:nvPr/>
        </p:nvSpPr>
        <p:spPr>
          <a:xfrm xmlns:a="http://schemas.openxmlformats.org/drawingml/2006/main">
            <a:off x="762000" y="38766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What the first pilot must establish</a:t>
            </a:r>
          </a:p>
        </p:txBody>
      </p:sp>
      <p:sp>
        <p:nvSpPr>
          <p:cNvPr id="6" name="text-5-6">
            <a:extLst xmlns:a="http://schemas.openxmlformats.org/drawingml/2006/main">
              <a:ext uri="{FF2B5EF4-FFF2-40B4-BE49-F238E27FC236}">
                <a16:creationId xmlns:a16="http://schemas.microsoft.com/office/drawing/2014/main" id="{BC4323C0-33BA-49D7-88F0-999A33C56B13}"/>
              </a:ext>
            </a:extLst>
          </p:cNvPr>
          <p:cNvSpPr>
            <a:spLocks xmlns:a="http://schemas.openxmlformats.org/drawingml/2006/main" noGrp="1"/>
          </p:cNvSpPr>
          <p:nvPr/>
        </p:nvSpPr>
        <p:spPr>
          <a:xfrm xmlns:a="http://schemas.openxmlformats.org/drawingml/2006/main">
            <a:off x="762000" y="4438650"/>
            <a:ext cx="1057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Do students complete useful plans and return to update them?</a:t>
            </a:r>
          </a:p>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Do advisers accept the plans?</a:t>
            </a:r>
          </a:p>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What does a completed plan and each revision cost?</a:t>
            </a:r>
          </a:p>
        </p:txBody>
      </p:sp>
    </p:spTree>
    <p:extLst>
      <p:ext uri="{BB962C8B-B14F-4D97-AF65-F5344CB8AC3E}">
        <p14:creationId xmlns:p14="http://schemas.microsoft.com/office/powerpoint/2010/main" val="17376734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6-1">
            <a:extLst xmlns:a="http://schemas.openxmlformats.org/drawingml/2006/main">
              <a:ext uri="{FF2B5EF4-FFF2-40B4-BE49-F238E27FC236}">
                <a16:creationId xmlns:a16="http://schemas.microsoft.com/office/drawing/2014/main" id="{0C5DC921-5BAC-4C28-9AA7-1FB182EDD847}"/>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Business model to test</a:t>
            </a:r>
          </a:p>
        </p:txBody>
      </p:sp>
      <p:sp>
        <p:nvSpPr>
          <p:cNvPr id="2" name="text-6-2">
            <a:extLst xmlns:a="http://schemas.openxmlformats.org/drawingml/2006/main">
              <a:ext uri="{FF2B5EF4-FFF2-40B4-BE49-F238E27FC236}">
                <a16:creationId xmlns:a16="http://schemas.microsoft.com/office/drawing/2014/main" id="{07EA05A7-C86F-46E1-B9E8-C3A0D1042C15}"/>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6</a:t>
            </a:r>
          </a:p>
        </p:txBody>
      </p:sp>
      <p:sp>
        <p:nvSpPr>
          <p:cNvPr id="3" name="text-6-3">
            <a:extLst xmlns:a="http://schemas.openxmlformats.org/drawingml/2006/main">
              <a:ext uri="{FF2B5EF4-FFF2-40B4-BE49-F238E27FC236}">
                <a16:creationId xmlns:a16="http://schemas.microsoft.com/office/drawing/2014/main" id="{666404BB-3CF5-4B6C-B002-9C9642BDA64A}"/>
              </a:ext>
            </a:extLst>
          </p:cNvPr>
          <p:cNvSpPr>
            <a:spLocks xmlns:a="http://schemas.openxmlformats.org/drawingml/2006/main" noGrp="1"/>
          </p:cNvSpPr>
          <p:nvPr/>
        </p:nvSpPr>
        <p:spPr>
          <a:xfrm xmlns:a="http://schemas.openxmlformats.org/drawingml/2006/main">
            <a:off x="762000" y="165735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72E2C"/>
                </a:solidFill>
                <a:latin typeface="Arial"/>
                <a:ea typeface="Arial"/>
                <a:cs typeface="Arial"/>
              </a:defRPr>
            </a:pPr>
            <a:r>
              <a:rPr sz="2550" b="0">
                <a:solidFill>
                  <a:srgbClr val="172E2C"/>
                </a:solidFill>
                <a:latin typeface="Arial"/>
                <a:ea typeface="Arial"/>
                <a:cs typeface="Arial"/>
              </a:rPr>
              <a:t>No pricing model selected yet.</a:t>
            </a:r>
          </a:p>
        </p:txBody>
      </p:sp>
      <p:sp>
        <p:nvSpPr>
          <p:cNvPr id="4" name="text-6-4">
            <a:extLst xmlns:a="http://schemas.openxmlformats.org/drawingml/2006/main">
              <a:ext uri="{FF2B5EF4-FFF2-40B4-BE49-F238E27FC236}">
                <a16:creationId xmlns:a16="http://schemas.microsoft.com/office/drawing/2014/main" id="{F39CEF3A-C490-4B75-BCA7-FD3235A1457B}"/>
              </a:ext>
            </a:extLst>
          </p:cNvPr>
          <p:cNvSpPr>
            <a:spLocks xmlns:a="http://schemas.openxmlformats.org/drawingml/2006/main" noGrp="1"/>
          </p:cNvSpPr>
          <p:nvPr/>
        </p:nvSpPr>
        <p:spPr>
          <a:xfrm xmlns:a="http://schemas.openxmlformats.org/drawingml/2006/main">
            <a:off x="762000" y="26003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University-funded access</a:t>
            </a:r>
          </a:p>
        </p:txBody>
      </p:sp>
      <p:sp>
        <p:nvSpPr>
          <p:cNvPr id="5" name="text-6-5">
            <a:extLst xmlns:a="http://schemas.openxmlformats.org/drawingml/2006/main">
              <a:ext uri="{FF2B5EF4-FFF2-40B4-BE49-F238E27FC236}">
                <a16:creationId xmlns:a16="http://schemas.microsoft.com/office/drawing/2014/main" id="{278A3E50-C4BA-44A6-BEA5-5174FE510FEB}"/>
              </a:ext>
            </a:extLst>
          </p:cNvPr>
          <p:cNvSpPr>
            <a:spLocks xmlns:a="http://schemas.openxmlformats.org/drawingml/2006/main" noGrp="1"/>
          </p:cNvSpPr>
          <p:nvPr/>
        </p:nvSpPr>
        <p:spPr>
          <a:xfrm xmlns:a="http://schemas.openxmlformats.org/drawingml/2006/main">
            <a:off x="762000" y="30670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A university pays for student access and pilot support.</a:t>
            </a:r>
          </a:p>
        </p:txBody>
      </p:sp>
      <p:sp>
        <p:nvSpPr>
          <p:cNvPr id="6" name="text-6-6">
            <a:extLst xmlns:a="http://schemas.openxmlformats.org/drawingml/2006/main">
              <a:ext uri="{FF2B5EF4-FFF2-40B4-BE49-F238E27FC236}">
                <a16:creationId xmlns:a16="http://schemas.microsoft.com/office/drawing/2014/main" id="{EA9FB969-D483-4F17-96E4-19C1E8DE0F5D}"/>
              </a:ext>
            </a:extLst>
          </p:cNvPr>
          <p:cNvSpPr>
            <a:spLocks xmlns:a="http://schemas.openxmlformats.org/drawingml/2006/main" noGrp="1"/>
          </p:cNvSpPr>
          <p:nvPr/>
        </p:nvSpPr>
        <p:spPr>
          <a:xfrm xmlns:a="http://schemas.openxmlformats.org/drawingml/2006/main">
            <a:off x="762000" y="38862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Student semester pass</a:t>
            </a:r>
          </a:p>
        </p:txBody>
      </p:sp>
      <p:sp>
        <p:nvSpPr>
          <p:cNvPr id="7" name="text-6-7">
            <a:extLst xmlns:a="http://schemas.openxmlformats.org/drawingml/2006/main">
              <a:ext uri="{FF2B5EF4-FFF2-40B4-BE49-F238E27FC236}">
                <a16:creationId xmlns:a16="http://schemas.microsoft.com/office/drawing/2014/main" id="{C452BD51-65AF-4B38-B4FF-3A59F80B6724}"/>
              </a:ext>
            </a:extLst>
          </p:cNvPr>
          <p:cNvSpPr>
            <a:spLocks xmlns:a="http://schemas.openxmlformats.org/drawingml/2006/main" noGrp="1"/>
          </p:cNvSpPr>
          <p:nvPr/>
        </p:nvSpPr>
        <p:spPr>
          <a:xfrm xmlns:a="http://schemas.openxmlformats.org/drawingml/2006/main">
            <a:off x="762000" y="43529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Students pay for continued planning and AI revisions.</a:t>
            </a:r>
          </a:p>
        </p:txBody>
      </p:sp>
      <p:sp>
        <p:nvSpPr>
          <p:cNvPr id="8" name="text-6-8">
            <a:extLst xmlns:a="http://schemas.openxmlformats.org/drawingml/2006/main">
              <a:ext uri="{FF2B5EF4-FFF2-40B4-BE49-F238E27FC236}">
                <a16:creationId xmlns:a16="http://schemas.microsoft.com/office/drawing/2014/main" id="{5E77757F-5C30-4C5E-AB6D-AE916430093F}"/>
              </a:ext>
            </a:extLst>
          </p:cNvPr>
          <p:cNvSpPr>
            <a:spLocks xmlns:a="http://schemas.openxmlformats.org/drawingml/2006/main" noGrp="1"/>
          </p:cNvSpPr>
          <p:nvPr/>
        </p:nvSpPr>
        <p:spPr>
          <a:xfrm xmlns:a="http://schemas.openxmlformats.org/drawingml/2006/main">
            <a:off x="762000" y="558165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First route to users: advising teams and student associations.</a:t>
            </a:r>
          </a:p>
        </p:txBody>
      </p:sp>
    </p:spTree>
    <p:extLst>
      <p:ext uri="{BB962C8B-B14F-4D97-AF65-F5344CB8AC3E}">
        <p14:creationId xmlns:p14="http://schemas.microsoft.com/office/powerpoint/2010/main" val="13766414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7-1">
            <a:extLst xmlns:a="http://schemas.openxmlformats.org/drawingml/2006/main">
              <a:ext uri="{FF2B5EF4-FFF2-40B4-BE49-F238E27FC236}">
                <a16:creationId xmlns:a16="http://schemas.microsoft.com/office/drawing/2014/main" id="{196755D4-E355-4A6F-B182-91DAECB10491}"/>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Costs and funding</a:t>
            </a:r>
          </a:p>
        </p:txBody>
      </p:sp>
      <p:sp>
        <p:nvSpPr>
          <p:cNvPr id="2" name="text-7-2">
            <a:extLst xmlns:a="http://schemas.openxmlformats.org/drawingml/2006/main">
              <a:ext uri="{FF2B5EF4-FFF2-40B4-BE49-F238E27FC236}">
                <a16:creationId xmlns:a16="http://schemas.microsoft.com/office/drawing/2014/main" id="{C9BA8B13-8BBA-4A54-ACC5-E37B207C37C2}"/>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7</a:t>
            </a:r>
          </a:p>
        </p:txBody>
      </p:sp>
      <p:sp>
        <p:nvSpPr>
          <p:cNvPr id="3" name="text-7-3">
            <a:extLst xmlns:a="http://schemas.openxmlformats.org/drawingml/2006/main">
              <a:ext uri="{FF2B5EF4-FFF2-40B4-BE49-F238E27FC236}">
                <a16:creationId xmlns:a16="http://schemas.microsoft.com/office/drawing/2014/main" id="{69FF4F46-B151-47DD-A7B9-22F35A38114D}"/>
              </a:ext>
            </a:extLst>
          </p:cNvPr>
          <p:cNvSpPr>
            <a:spLocks xmlns:a="http://schemas.openxmlformats.org/drawingml/2006/main" noGrp="1"/>
          </p:cNvSpPr>
          <p:nvPr/>
        </p:nvSpPr>
        <p:spPr>
          <a:xfrm xmlns:a="http://schemas.openxmlformats.org/drawingml/2006/main">
            <a:off x="762000" y="1695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Groq GPT-OSS 120B</a:t>
            </a:r>
          </a:p>
        </p:txBody>
      </p:sp>
      <p:sp>
        <p:nvSpPr>
          <p:cNvPr id="4" name="text-7-4">
            <a:extLst xmlns:a="http://schemas.openxmlformats.org/drawingml/2006/main">
              <a:ext uri="{FF2B5EF4-FFF2-40B4-BE49-F238E27FC236}">
                <a16:creationId xmlns:a16="http://schemas.microsoft.com/office/drawing/2014/main" id="{FE968222-6559-4E38-9963-14157937AFB9}"/>
              </a:ext>
            </a:extLst>
          </p:cNvPr>
          <p:cNvSpPr>
            <a:spLocks xmlns:a="http://schemas.openxmlformats.org/drawingml/2006/main" noGrp="1"/>
          </p:cNvSpPr>
          <p:nvPr/>
        </p:nvSpPr>
        <p:spPr>
          <a:xfrm xmlns:a="http://schemas.openxmlformats.org/drawingml/2006/main">
            <a:off x="762000" y="2276475"/>
            <a:ext cx="4857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USD per 1 million tokens</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Input: $0.15</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Output: $0.60</a:t>
            </a:r>
          </a:p>
        </p:txBody>
      </p:sp>
      <p:sp>
        <p:nvSpPr>
          <p:cNvPr id="5" name="text-7-5">
            <a:extLst xmlns:a="http://schemas.openxmlformats.org/drawingml/2006/main">
              <a:ext uri="{FF2B5EF4-FFF2-40B4-BE49-F238E27FC236}">
                <a16:creationId xmlns:a16="http://schemas.microsoft.com/office/drawing/2014/main" id="{7BAE2A7C-A093-4474-9477-E77FB1DFEFF8}"/>
              </a:ext>
            </a:extLst>
          </p:cNvPr>
          <p:cNvSpPr>
            <a:spLocks xmlns:a="http://schemas.openxmlformats.org/drawingml/2006/main" noGrp="1"/>
          </p:cNvSpPr>
          <p:nvPr/>
        </p:nvSpPr>
        <p:spPr>
          <a:xfrm xmlns:a="http://schemas.openxmlformats.org/drawingml/2006/main">
            <a:off x="762000" y="37528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E2C"/>
                </a:solidFill>
                <a:latin typeface="Arial"/>
                <a:ea typeface="Arial"/>
                <a:cs typeface="Arial"/>
              </a:defRPr>
            </a:pPr>
            <a:r>
              <a:rPr sz="2550" b="1">
                <a:solidFill>
                  <a:srgbClr val="172E2C"/>
                </a:solidFill>
                <a:latin typeface="Arial"/>
                <a:ea typeface="Arial"/>
                <a:cs typeface="Arial"/>
              </a:rPr>
              <a:t>Example: $0.014 per plan</a:t>
            </a:r>
          </a:p>
        </p:txBody>
      </p:sp>
      <p:sp>
        <p:nvSpPr>
          <p:cNvPr id="6" name="text-7-6">
            <a:extLst xmlns:a="http://schemas.openxmlformats.org/drawingml/2006/main">
              <a:ext uri="{FF2B5EF4-FFF2-40B4-BE49-F238E27FC236}">
                <a16:creationId xmlns:a16="http://schemas.microsoft.com/office/drawing/2014/main" id="{2C559F68-A156-40DE-83B3-F6E0696FF230}"/>
              </a:ext>
            </a:extLst>
          </p:cNvPr>
          <p:cNvSpPr>
            <a:spLocks xmlns:a="http://schemas.openxmlformats.org/drawingml/2006/main" noGrp="1"/>
          </p:cNvSpPr>
          <p:nvPr/>
        </p:nvSpPr>
        <p:spPr>
          <a:xfrm xmlns:a="http://schemas.openxmlformats.org/drawingml/2006/main">
            <a:off x="762000" y="4324350"/>
            <a:ext cx="4857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E2C"/>
                </a:solidFill>
                <a:latin typeface="Arial"/>
                <a:ea typeface="Arial"/>
                <a:cs typeface="Arial"/>
              </a:defRPr>
            </a:pPr>
            <a:r>
              <a:rPr sz="1875" b="0">
                <a:solidFill>
                  <a:srgbClr val="172E2C"/>
                </a:solidFill>
                <a:latin typeface="Arial"/>
                <a:ea typeface="Arial"/>
                <a:cs typeface="Arial"/>
              </a:rPr>
              <a:t>Illustration: 50k input + 10k output tokens.</a:t>
            </a:r>
          </a:p>
          <a:p xmlns:a="http://schemas.openxmlformats.org/drawingml/2006/main">
            <a:pPr algn="l">
              <a:defRPr sz="1875" b="0">
                <a:solidFill>
                  <a:srgbClr val="172E2C"/>
                </a:solidFill>
                <a:latin typeface="Arial"/>
                <a:ea typeface="Arial"/>
                <a:cs typeface="Arial"/>
              </a:defRPr>
            </a:pPr>
            <a:r>
              <a:rPr sz="1875" b="0">
                <a:solidFill>
                  <a:srgbClr val="172E2C"/>
                </a:solidFill>
                <a:latin typeface="Arial"/>
                <a:ea typeface="Arial"/>
                <a:cs typeface="Arial"/>
              </a:rPr>
              <a:t>Model tokens only, not a measured bill.</a:t>
            </a:r>
          </a:p>
          <a:p xmlns:a="http://schemas.openxmlformats.org/drawingml/2006/main">
            <a:pPr algn="l">
              <a:defRPr sz="1875" b="0">
                <a:solidFill>
                  <a:srgbClr val="172E2C"/>
                </a:solidFill>
                <a:latin typeface="Arial"/>
                <a:ea typeface="Arial"/>
                <a:cs typeface="Arial"/>
              </a:defRPr>
            </a:pPr>
            <a:r>
              <a:rPr sz="1875" b="0">
                <a:solidFill>
                  <a:srgbClr val="172E2C"/>
                </a:solidFill>
                <a:latin typeface="Arial"/>
                <a:ea typeface="Arial"/>
                <a:cs typeface="Arial"/>
              </a:rPr>
              <a:t>Research and revisions add cost.</a:t>
            </a:r>
          </a:p>
        </p:txBody>
      </p:sp>
      <p:sp>
        <p:nvSpPr>
          <p:cNvPr id="7" name="text-7-7">
            <a:extLst xmlns:a="http://schemas.openxmlformats.org/drawingml/2006/main">
              <a:ext uri="{FF2B5EF4-FFF2-40B4-BE49-F238E27FC236}">
                <a16:creationId xmlns:a16="http://schemas.microsoft.com/office/drawing/2014/main" id="{318316D8-4486-4EA5-860E-CA0A36E67A68}"/>
              </a:ext>
            </a:extLst>
          </p:cNvPr>
          <p:cNvSpPr>
            <a:spLocks xmlns:a="http://schemas.openxmlformats.org/drawingml/2006/main" noGrp="1"/>
          </p:cNvSpPr>
          <p:nvPr/>
        </p:nvSpPr>
        <p:spPr>
          <a:xfrm xmlns:a="http://schemas.openxmlformats.org/drawingml/2006/main">
            <a:off x="6572250" y="1695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Funding would cover</a:t>
            </a:r>
          </a:p>
        </p:txBody>
      </p:sp>
      <p:sp>
        <p:nvSpPr>
          <p:cNvPr id="8" name="text-7-8">
            <a:extLst xmlns:a="http://schemas.openxmlformats.org/drawingml/2006/main">
              <a:ext uri="{FF2B5EF4-FFF2-40B4-BE49-F238E27FC236}">
                <a16:creationId xmlns:a16="http://schemas.microsoft.com/office/drawing/2014/main" id="{E622D4B8-8E15-4B27-B10F-F0FDBB056797}"/>
              </a:ext>
            </a:extLst>
          </p:cNvPr>
          <p:cNvSpPr>
            <a:spLocks xmlns:a="http://schemas.openxmlformats.org/drawingml/2006/main" noGrp="1"/>
          </p:cNvSpPr>
          <p:nvPr/>
        </p:nvSpPr>
        <p:spPr>
          <a:xfrm xmlns:a="http://schemas.openxmlformats.org/drawingml/2006/main">
            <a:off x="6572250" y="2276475"/>
            <a:ext cx="48577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AI and web research usage.</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Hosting, storage and email.</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Academic data review.</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Reliability work and pilot support.</a:t>
            </a:r>
          </a:p>
        </p:txBody>
      </p:sp>
      <p:sp>
        <p:nvSpPr>
          <p:cNvPr id="9" name="text-7-9">
            <a:extLst xmlns:a="http://schemas.openxmlformats.org/drawingml/2006/main">
              <a:ext uri="{FF2B5EF4-FFF2-40B4-BE49-F238E27FC236}">
                <a16:creationId xmlns:a16="http://schemas.microsoft.com/office/drawing/2014/main" id="{793FE01D-5773-4882-8EDE-C225AA9E826C}"/>
              </a:ext>
            </a:extLst>
          </p:cNvPr>
          <p:cNvSpPr>
            <a:spLocks xmlns:a="http://schemas.openxmlformats.org/drawingml/2006/main" noGrp="1"/>
          </p:cNvSpPr>
          <p:nvPr/>
        </p:nvSpPr>
        <p:spPr>
          <a:xfrm xmlns:a="http://schemas.openxmlformats.org/drawingml/2006/main">
            <a:off x="6572250" y="476250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E2C"/>
                </a:solidFill>
                <a:latin typeface="Arial"/>
                <a:ea typeface="Arial"/>
                <a:cs typeface="Arial"/>
              </a:defRPr>
            </a:pPr>
            <a:r>
              <a:rPr sz="2175" b="1">
                <a:solidFill>
                  <a:srgbClr val="172E2C"/>
                </a:solidFill>
                <a:latin typeface="Arial"/>
                <a:ea typeface="Arial"/>
                <a:cs typeface="Arial"/>
              </a:rPr>
              <a:t>Seeking pilot funding or cloud credits.</a:t>
            </a:r>
          </a:p>
          <a:p xmlns:a="http://schemas.openxmlformats.org/drawingml/2006/main">
            <a:pPr algn="l">
              <a:defRPr sz="2175" b="1">
                <a:solidFill>
                  <a:srgbClr val="172E2C"/>
                </a:solidFill>
                <a:latin typeface="Arial"/>
                <a:ea typeface="Arial"/>
                <a:cs typeface="Arial"/>
              </a:defRPr>
            </a:pPr>
            <a:r>
              <a:rPr sz="2175" b="1">
                <a:solidFill>
                  <a:srgbClr val="172E2C"/>
                </a:solidFill>
                <a:latin typeface="Arial"/>
                <a:ea typeface="Arial"/>
                <a:cs typeface="Arial"/>
              </a:rPr>
              <a:t>Budget depends on pilot scope.</a:t>
            </a:r>
          </a:p>
        </p:txBody>
      </p:sp>
      <p:sp>
        <p:nvSpPr>
          <p:cNvPr id="10" name="text-7-10">
            <a:extLst xmlns:a="http://schemas.openxmlformats.org/drawingml/2006/main">
              <a:ext uri="{FF2B5EF4-FFF2-40B4-BE49-F238E27FC236}">
                <a16:creationId xmlns:a16="http://schemas.microsoft.com/office/drawing/2014/main" id="{4E42696D-46B7-4C7B-93C8-1357EAFCA422}"/>
              </a:ext>
            </a:extLst>
          </p:cNvPr>
          <p:cNvSpPr>
            <a:spLocks xmlns:a="http://schemas.openxmlformats.org/drawingml/2006/main" noGrp="1"/>
          </p:cNvSpPr>
          <p:nvPr/>
        </p:nvSpPr>
        <p:spPr>
          <a:xfrm xmlns:a="http://schemas.openxmlformats.org/drawingml/2006/main">
            <a:off x="762000" y="6076950"/>
            <a:ext cx="1038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hlinkClick xmlns:r="http://schemas.openxmlformats.org/officeDocument/2006/relationships" r:id="R1594bf8e1a75468c"/>
              </a:rPr>
              <a:t>Groq public rates checked 6 October 2026</a:t>
            </a:r>
          </a:p>
        </p:txBody>
      </p:sp>
    </p:spTree>
    <p:extLst>
      <p:ext uri="{BB962C8B-B14F-4D97-AF65-F5344CB8AC3E}">
        <p14:creationId xmlns:p14="http://schemas.microsoft.com/office/powerpoint/2010/main" val="21181769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8-1">
            <a:extLst xmlns:a="http://schemas.openxmlformats.org/drawingml/2006/main">
              <a:ext uri="{FF2B5EF4-FFF2-40B4-BE49-F238E27FC236}">
                <a16:creationId xmlns:a16="http://schemas.microsoft.com/office/drawing/2014/main" id="{5436545D-9BA9-4FBD-BFC3-76F074B53477}"/>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Incubation plan</a:t>
            </a:r>
          </a:p>
        </p:txBody>
      </p:sp>
      <p:sp>
        <p:nvSpPr>
          <p:cNvPr id="2" name="text-8-2">
            <a:extLst xmlns:a="http://schemas.openxmlformats.org/drawingml/2006/main">
              <a:ext uri="{FF2B5EF4-FFF2-40B4-BE49-F238E27FC236}">
                <a16:creationId xmlns:a16="http://schemas.microsoft.com/office/drawing/2014/main" id="{2ABEDE67-F1A9-4A75-9D9D-0FBE5AFCD005}"/>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8</a:t>
            </a:r>
          </a:p>
        </p:txBody>
      </p:sp>
      <p:sp>
        <p:nvSpPr>
          <p:cNvPr id="3" name="text-8-3">
            <a:extLst xmlns:a="http://schemas.openxmlformats.org/drawingml/2006/main">
              <a:ext uri="{FF2B5EF4-FFF2-40B4-BE49-F238E27FC236}">
                <a16:creationId xmlns:a16="http://schemas.microsoft.com/office/drawing/2014/main" id="{7000EC84-5FFB-4DE9-A51F-CC733A820F4E}"/>
              </a:ext>
            </a:extLst>
          </p:cNvPr>
          <p:cNvSpPr>
            <a:spLocks xmlns:a="http://schemas.openxmlformats.org/drawingml/2006/main" noGrp="1"/>
          </p:cNvSpPr>
          <p:nvPr/>
        </p:nvSpPr>
        <p:spPr>
          <a:xfrm xmlns:a="http://schemas.openxmlformats.org/drawingml/2006/main">
            <a:off x="762000" y="17240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Pilot</a:t>
            </a:r>
          </a:p>
        </p:txBody>
      </p:sp>
      <p:sp>
        <p:nvSpPr>
          <p:cNvPr id="4" name="text-8-4">
            <a:extLst xmlns:a="http://schemas.openxmlformats.org/drawingml/2006/main">
              <a:ext uri="{FF2B5EF4-FFF2-40B4-BE49-F238E27FC236}">
                <a16:creationId xmlns:a16="http://schemas.microsoft.com/office/drawing/2014/main" id="{6F49A568-7D4F-4985-AD54-A0BEF5C7A6C3}"/>
              </a:ext>
            </a:extLst>
          </p:cNvPr>
          <p:cNvSpPr>
            <a:spLocks xmlns:a="http://schemas.openxmlformats.org/drawingml/2006/main" noGrp="1"/>
          </p:cNvSpPr>
          <p:nvPr/>
        </p:nvSpPr>
        <p:spPr>
          <a:xfrm xmlns:a="http://schemas.openxmlformats.org/drawingml/2006/main">
            <a:off x="762000" y="21907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Recruit students with a university partner.</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Review the plans with academic advisers.</a:t>
            </a:r>
          </a:p>
        </p:txBody>
      </p:sp>
      <p:sp>
        <p:nvSpPr>
          <p:cNvPr id="5" name="text-8-5">
            <a:extLst xmlns:a="http://schemas.openxmlformats.org/drawingml/2006/main">
              <a:ext uri="{FF2B5EF4-FFF2-40B4-BE49-F238E27FC236}">
                <a16:creationId xmlns:a16="http://schemas.microsoft.com/office/drawing/2014/main" id="{F513B115-7146-4B43-B722-0D996CFDCDAF}"/>
              </a:ext>
            </a:extLst>
          </p:cNvPr>
          <p:cNvSpPr>
            <a:spLocks xmlns:a="http://schemas.openxmlformats.org/drawingml/2006/main" noGrp="1"/>
          </p:cNvSpPr>
          <p:nvPr/>
        </p:nvSpPr>
        <p:spPr>
          <a:xfrm xmlns:a="http://schemas.openxmlformats.org/drawingml/2006/main">
            <a:off x="762000" y="32099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Measure</a:t>
            </a:r>
          </a:p>
        </p:txBody>
      </p:sp>
      <p:sp>
        <p:nvSpPr>
          <p:cNvPr id="6" name="text-8-6">
            <a:extLst xmlns:a="http://schemas.openxmlformats.org/drawingml/2006/main">
              <a:ext uri="{FF2B5EF4-FFF2-40B4-BE49-F238E27FC236}">
                <a16:creationId xmlns:a16="http://schemas.microsoft.com/office/drawing/2014/main" id="{6B032DBF-CDA0-45C5-B1A9-1D09349752B0}"/>
              </a:ext>
            </a:extLst>
          </p:cNvPr>
          <p:cNvSpPr>
            <a:spLocks xmlns:a="http://schemas.openxmlformats.org/drawingml/2006/main" noGrp="1"/>
          </p:cNvSpPr>
          <p:nvPr/>
        </p:nvSpPr>
        <p:spPr>
          <a:xfrm xmlns:a="http://schemas.openxmlformats.org/drawingml/2006/main">
            <a:off x="762000" y="36766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Track usefulness, return use, errors and cost per plan.</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Test willingness to pay and university interest.</a:t>
            </a:r>
          </a:p>
        </p:txBody>
      </p:sp>
      <p:sp>
        <p:nvSpPr>
          <p:cNvPr id="7" name="text-8-7">
            <a:extLst xmlns:a="http://schemas.openxmlformats.org/drawingml/2006/main">
              <a:ext uri="{FF2B5EF4-FFF2-40B4-BE49-F238E27FC236}">
                <a16:creationId xmlns:a16="http://schemas.microsoft.com/office/drawing/2014/main" id="{59AE951A-4277-4E98-A5CB-C9C6EFA2665F}"/>
              </a:ext>
            </a:extLst>
          </p:cNvPr>
          <p:cNvSpPr>
            <a:spLocks xmlns:a="http://schemas.openxmlformats.org/drawingml/2006/main" noGrp="1"/>
          </p:cNvSpPr>
          <p:nvPr/>
        </p:nvSpPr>
        <p:spPr>
          <a:xfrm xmlns:a="http://schemas.openxmlformats.org/drawingml/2006/main">
            <a:off x="762000" y="46958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Expand</a:t>
            </a:r>
          </a:p>
        </p:txBody>
      </p:sp>
      <p:sp>
        <p:nvSpPr>
          <p:cNvPr id="8" name="text-8-8">
            <a:extLst xmlns:a="http://schemas.openxmlformats.org/drawingml/2006/main">
              <a:ext uri="{FF2B5EF4-FFF2-40B4-BE49-F238E27FC236}">
                <a16:creationId xmlns:a16="http://schemas.microsoft.com/office/drawing/2014/main" id="{41D80002-E937-42BA-AD49-62970C1BB1B0}"/>
              </a:ext>
            </a:extLst>
          </p:cNvPr>
          <p:cNvSpPr>
            <a:spLocks xmlns:a="http://schemas.openxmlformats.org/drawingml/2006/main" noGrp="1"/>
          </p:cNvSpPr>
          <p:nvPr/>
        </p:nvSpPr>
        <p:spPr>
          <a:xfrm xmlns:a="http://schemas.openxmlformats.org/drawingml/2006/main">
            <a:off x="762000" y="51625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Add another university after the pilot meets agreed targets.</a:t>
            </a:r>
          </a:p>
        </p:txBody>
      </p:sp>
      <p:sp>
        <p:nvSpPr>
          <p:cNvPr id="9" name="text-8-9">
            <a:extLst xmlns:a="http://schemas.openxmlformats.org/drawingml/2006/main">
              <a:ext uri="{FF2B5EF4-FFF2-40B4-BE49-F238E27FC236}">
                <a16:creationId xmlns:a16="http://schemas.microsoft.com/office/drawing/2014/main" id="{EB8312F2-3748-42ED-ACDE-896028C9E693}"/>
              </a:ext>
            </a:extLst>
          </p:cNvPr>
          <p:cNvSpPr>
            <a:spLocks xmlns:a="http://schemas.openxmlformats.org/drawingml/2006/main" noGrp="1"/>
          </p:cNvSpPr>
          <p:nvPr/>
        </p:nvSpPr>
        <p:spPr>
          <a:xfrm xmlns:a="http://schemas.openxmlformats.org/drawingml/2006/main">
            <a:off x="762000" y="59626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3C37"/>
                </a:solidFill>
                <a:latin typeface="Arial"/>
                <a:ea typeface="Arial"/>
                <a:cs typeface="Arial"/>
              </a:defRPr>
            </a:pPr>
            <a:r>
              <a:rPr sz="1950" b="1">
                <a:solidFill>
                  <a:srgbClr val="143C37"/>
                </a:solidFill>
                <a:latin typeface="Arial"/>
                <a:ea typeface="Arial"/>
                <a:cs typeface="Arial"/>
              </a:rPr>
              <a:t>Seeking university partners for student pilots and academic data review.</a:t>
            </a:r>
          </a:p>
        </p:txBody>
      </p:sp>
    </p:spTree>
    <p:extLst>
      <p:ext uri="{BB962C8B-B14F-4D97-AF65-F5344CB8AC3E}">
        <p14:creationId xmlns:p14="http://schemas.microsoft.com/office/powerpoint/2010/main" val="7939256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9-1">
            <a:extLst xmlns:a="http://schemas.openxmlformats.org/drawingml/2006/main">
              <a:ext uri="{FF2B5EF4-FFF2-40B4-BE49-F238E27FC236}">
                <a16:creationId xmlns:a16="http://schemas.microsoft.com/office/drawing/2014/main" id="{C4B4299B-F3A4-4816-9202-B3930EF12F20}"/>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Founder and contact</a:t>
            </a:r>
          </a:p>
        </p:txBody>
      </p:sp>
      <p:sp>
        <p:nvSpPr>
          <p:cNvPr id="2" name="text-9-2">
            <a:extLst xmlns:a="http://schemas.openxmlformats.org/drawingml/2006/main">
              <a:ext uri="{FF2B5EF4-FFF2-40B4-BE49-F238E27FC236}">
                <a16:creationId xmlns:a16="http://schemas.microsoft.com/office/drawing/2014/main" id="{48917F03-3222-4428-9A78-12EB9E40EE4E}"/>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9</a:t>
            </a:r>
          </a:p>
        </p:txBody>
      </p:sp>
      <p:sp>
        <p:nvSpPr>
          <p:cNvPr id="3" name="text-9-3">
            <a:extLst xmlns:a="http://schemas.openxmlformats.org/drawingml/2006/main">
              <a:ext uri="{FF2B5EF4-FFF2-40B4-BE49-F238E27FC236}">
                <a16:creationId xmlns:a16="http://schemas.microsoft.com/office/drawing/2014/main" id="{CFA5A615-A70B-4D8B-BC78-FB6284814E27}"/>
              </a:ext>
            </a:extLst>
          </p:cNvPr>
          <p:cNvSpPr>
            <a:spLocks xmlns:a="http://schemas.openxmlformats.org/drawingml/2006/main" noGrp="1"/>
          </p:cNvSpPr>
          <p:nvPr/>
        </p:nvSpPr>
        <p:spPr>
          <a:xfrm xmlns:a="http://schemas.openxmlformats.org/drawingml/2006/main">
            <a:off x="762000" y="16859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E2C"/>
                </a:solidFill>
                <a:latin typeface="Arial"/>
                <a:ea typeface="Arial"/>
                <a:cs typeface="Arial"/>
              </a:defRPr>
            </a:pPr>
            <a:r>
              <a:rPr sz="3450" b="1">
                <a:solidFill>
                  <a:srgbClr val="172E2C"/>
                </a:solidFill>
                <a:latin typeface="Arial"/>
                <a:ea typeface="Arial"/>
                <a:cs typeface="Arial"/>
              </a:rPr>
              <a:t>Soulaymane Alahiane</a:t>
            </a:r>
          </a:p>
        </p:txBody>
      </p:sp>
      <p:sp>
        <p:nvSpPr>
          <p:cNvPr id="4" name="text-9-4">
            <a:extLst xmlns:a="http://schemas.openxmlformats.org/drawingml/2006/main">
              <a:ext uri="{FF2B5EF4-FFF2-40B4-BE49-F238E27FC236}">
                <a16:creationId xmlns:a16="http://schemas.microsoft.com/office/drawing/2014/main" id="{334B3A2D-0584-4C46-BD0F-BFEA7BF2BD2E}"/>
              </a:ext>
            </a:extLst>
          </p:cNvPr>
          <p:cNvSpPr>
            <a:spLocks xmlns:a="http://schemas.openxmlformats.org/drawingml/2006/main" noGrp="1"/>
          </p:cNvSpPr>
          <p:nvPr/>
        </p:nvSpPr>
        <p:spPr>
          <a:xfrm xmlns:a="http://schemas.openxmlformats.org/drawingml/2006/main">
            <a:off x="762000" y="244792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Sole founder. Built the MVP and leads product development.</a:t>
            </a:r>
          </a:p>
        </p:txBody>
      </p:sp>
      <p:sp>
        <p:nvSpPr>
          <p:cNvPr id="5" name="text-9-5">
            <a:extLst xmlns:a="http://schemas.openxmlformats.org/drawingml/2006/main">
              <a:ext uri="{FF2B5EF4-FFF2-40B4-BE49-F238E27FC236}">
                <a16:creationId xmlns:a16="http://schemas.microsoft.com/office/drawing/2014/main" id="{F1733B0F-E0C3-4A51-9AC4-97758A55C4B1}"/>
              </a:ext>
            </a:extLst>
          </p:cNvPr>
          <p:cNvSpPr>
            <a:spLocks xmlns:a="http://schemas.openxmlformats.org/drawingml/2006/main" noGrp="1"/>
          </p:cNvSpPr>
          <p:nvPr/>
        </p:nvSpPr>
        <p:spPr>
          <a:xfrm xmlns:a="http://schemas.openxmlformats.org/drawingml/2006/main">
            <a:off x="762000" y="34766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1887B"/>
                </a:solidFill>
                <a:latin typeface="Arial"/>
                <a:ea typeface="Arial"/>
                <a:cs typeface="Arial"/>
              </a:defRPr>
            </a:pPr>
            <a:r>
              <a:rPr sz="2250" b="0">
                <a:solidFill>
                  <a:srgbClr val="21887B"/>
                </a:solidFill>
                <a:latin typeface="Arial"/>
                <a:ea typeface="Arial"/>
                <a:cs typeface="Arial"/>
                <a:hlinkClick xmlns:r="http://schemas.openxmlformats.org/officeDocument/2006/relationships" r:id="R12b7b5c170a54939"/>
              </a:rPr>
              <a:t>S.Alahiane@aui.ma</a:t>
            </a:r>
          </a:p>
        </p:txBody>
      </p:sp>
      <p:sp>
        <p:nvSpPr>
          <p:cNvPr id="6" name="text-9-6">
            <a:extLst xmlns:a="http://schemas.openxmlformats.org/drawingml/2006/main">
              <a:ext uri="{FF2B5EF4-FFF2-40B4-BE49-F238E27FC236}">
                <a16:creationId xmlns:a16="http://schemas.microsoft.com/office/drawing/2014/main" id="{5E9F6284-DB8D-482C-9D94-A837CF590E76}"/>
              </a:ext>
            </a:extLst>
          </p:cNvPr>
          <p:cNvSpPr>
            <a:spLocks xmlns:a="http://schemas.openxmlformats.org/drawingml/2006/main" noGrp="1"/>
          </p:cNvSpPr>
          <p:nvPr/>
        </p:nvSpPr>
        <p:spPr>
          <a:xfrm xmlns:a="http://schemas.openxmlformats.org/drawingml/2006/main">
            <a:off x="762000" y="40481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1887B"/>
                </a:solidFill>
                <a:latin typeface="Arial"/>
                <a:ea typeface="Arial"/>
                <a:cs typeface="Arial"/>
              </a:defRPr>
            </a:pPr>
            <a:r>
              <a:rPr sz="2100" b="0">
                <a:solidFill>
                  <a:srgbClr val="21887B"/>
                </a:solidFill>
                <a:latin typeface="Arial"/>
                <a:ea typeface="Arial"/>
                <a:cs typeface="Arial"/>
                <a:hlinkClick xmlns:r="http://schemas.openxmlformats.org/officeDocument/2006/relationships" r:id="R0eca41580f4241ed"/>
              </a:rPr>
              <a:t>Website: planwithgoplan.com</a:t>
            </a:r>
          </a:p>
        </p:txBody>
      </p:sp>
      <p:sp>
        <p:nvSpPr>
          <p:cNvPr id="7" name="text-9-7">
            <a:extLst xmlns:a="http://schemas.openxmlformats.org/drawingml/2006/main">
              <a:ext uri="{FF2B5EF4-FFF2-40B4-BE49-F238E27FC236}">
                <a16:creationId xmlns:a16="http://schemas.microsoft.com/office/drawing/2014/main" id="{01D3B564-CBF4-4775-AC57-5646892C287D}"/>
              </a:ext>
            </a:extLst>
          </p:cNvPr>
          <p:cNvSpPr>
            <a:spLocks xmlns:a="http://schemas.openxmlformats.org/drawingml/2006/main" noGrp="1"/>
          </p:cNvSpPr>
          <p:nvPr/>
        </p:nvSpPr>
        <p:spPr>
          <a:xfrm xmlns:a="http://schemas.openxmlformats.org/drawingml/2006/main">
            <a:off x="762000" y="4619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1887B"/>
                </a:solidFill>
                <a:latin typeface="Arial"/>
                <a:ea typeface="Arial"/>
                <a:cs typeface="Arial"/>
              </a:defRPr>
            </a:pPr>
            <a:r>
              <a:rPr sz="2100" b="0">
                <a:solidFill>
                  <a:srgbClr val="21887B"/>
                </a:solidFill>
                <a:latin typeface="Arial"/>
                <a:ea typeface="Arial"/>
                <a:cs typeface="Arial"/>
                <a:hlinkClick xmlns:r="http://schemas.openxmlformats.org/officeDocument/2006/relationships" r:id="R17496286c7ce4afd"/>
              </a:rPr>
              <a:t>GitHub: github.com/soulaymanealahiane</a:t>
            </a:r>
          </a:p>
        </p:txBody>
      </p:sp>
      <p:sp>
        <p:nvSpPr>
          <p:cNvPr id="8" name="text-9-8">
            <a:extLst xmlns:a="http://schemas.openxmlformats.org/drawingml/2006/main">
              <a:ext uri="{FF2B5EF4-FFF2-40B4-BE49-F238E27FC236}">
                <a16:creationId xmlns:a16="http://schemas.microsoft.com/office/drawing/2014/main" id="{5A215A4A-72A4-4224-9DF4-92F479DC9632}"/>
              </a:ext>
            </a:extLst>
          </p:cNvPr>
          <p:cNvSpPr>
            <a:spLocks xmlns:a="http://schemas.openxmlformats.org/drawingml/2006/main" noGrp="1"/>
          </p:cNvSpPr>
          <p:nvPr/>
        </p:nvSpPr>
        <p:spPr>
          <a:xfrm xmlns:a="http://schemas.openxmlformats.org/drawingml/2006/main">
            <a:off x="762000" y="5191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1887B"/>
                </a:solidFill>
                <a:latin typeface="Arial"/>
                <a:ea typeface="Arial"/>
                <a:cs typeface="Arial"/>
              </a:defRPr>
            </a:pPr>
            <a:r>
              <a:rPr sz="2025" b="0">
                <a:solidFill>
                  <a:srgbClr val="21887B"/>
                </a:solidFill>
                <a:latin typeface="Arial"/>
                <a:ea typeface="Arial"/>
                <a:cs typeface="Arial"/>
                <a:hlinkClick xmlns:r="http://schemas.openxmlformats.org/officeDocument/2006/relationships" r:id="Raf313b753ef241d6"/>
              </a:rPr>
              <a:t>LinkedIn: linkedin.com/in/soulaymane-alahiane-0b18a32b6</a:t>
            </a:r>
          </a:p>
        </p:txBody>
      </p:sp>
    </p:spTree>
    <p:extLst>
      <p:ext uri="{BB962C8B-B14F-4D97-AF65-F5344CB8AC3E}">
        <p14:creationId xmlns:p14="http://schemas.microsoft.com/office/powerpoint/2010/main" val="1206784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2026-10-06T09:36:36.1500000Z</dcterms:created>
  <dcterms:modified xsi:type="dcterms:W3CDTF">2026-10-06T09:36:36.1500000Z</dcterms:modified>
</coreProperties>
</file>