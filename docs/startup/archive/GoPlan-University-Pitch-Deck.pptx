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0c09c83c98455a" /><Relationship Type="http://schemas.openxmlformats.org/officeDocument/2006/relationships/extended-properties" Target="/docProps/app.xml" Id="R185e951e918b432a" /><Relationship Type="http://schemas.openxmlformats.org/officeDocument/2006/relationships/officeDocument" Target="/ppt/presentation.xml" Id="Rd6506924e1bb4777" /></Relationships>
</file>

<file path=ppt/presentation.xml><?xml version="1.0" encoding="utf-8"?>
<p:presentation xmlns:p="http://schemas.openxmlformats.org/presentationml/2006/main">
  <p:sldMasterIdLst>
    <p:sldMasterId xmlns:r="http://schemas.openxmlformats.org/officeDocument/2006/relationships" id="2147483648" r:id="R5c954cc44c9445bd"/>
  </p:sldMasterIdLst>
  <p:notesMasterIdLst>
    <p:notesMasterId xmlns:r="http://schemas.openxmlformats.org/officeDocument/2006/relationships" r:id="Rdca1a49c1eb54d09"/>
  </p:notesMasterIdLst>
  <p:sldIdLst>
    <p:sldId xmlns:r="http://schemas.openxmlformats.org/officeDocument/2006/relationships" id="256" r:id="R52d93a782b5c4eff"/>
    <p:sldId xmlns:r="http://schemas.openxmlformats.org/officeDocument/2006/relationships" id="257" r:id="R6612631a6d754140"/>
    <p:sldId xmlns:r="http://schemas.openxmlformats.org/officeDocument/2006/relationships" id="258" r:id="R00bd27ca3d8449ff"/>
    <p:sldId xmlns:r="http://schemas.openxmlformats.org/officeDocument/2006/relationships" id="259" r:id="R8224aef945da440c"/>
    <p:sldId xmlns:r="http://schemas.openxmlformats.org/officeDocument/2006/relationships" id="260" r:id="Rf5e6a53166624853"/>
    <p:sldId xmlns:r="http://schemas.openxmlformats.org/officeDocument/2006/relationships" id="261" r:id="Rc64c344b33854ab9"/>
    <p:sldId xmlns:r="http://schemas.openxmlformats.org/officeDocument/2006/relationships" id="262" r:id="Rbad2106c85414cf9"/>
    <p:sldId xmlns:r="http://schemas.openxmlformats.org/officeDocument/2006/relationships" id="263" r:id="R6aa5ae18e13c4ec2"/>
    <p:sldId xmlns:r="http://schemas.openxmlformats.org/officeDocument/2006/relationships" id="264" r:id="R1932bf32335346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5b7158cecd40f7" /><Relationship Type="http://schemas.openxmlformats.org/officeDocument/2006/relationships/slideMaster" Target="/ppt/slideMasters/slideMaster1.xml" Id="R5c954cc44c9445bd" /><Relationship Type="http://schemas.openxmlformats.org/officeDocument/2006/relationships/notesMaster" Target="/ppt/notesMasters/notesMaster1.xml" Id="Rdca1a49c1eb54d09" /><Relationship Type="http://schemas.openxmlformats.org/officeDocument/2006/relationships/presProps" Target="/ppt/presProps.xml" Id="R4cb7a46430cb4b4d" /><Relationship Type="http://schemas.openxmlformats.org/officeDocument/2006/relationships/tableStyles" Target="/ppt/tableStyles.xml" Id="Ra52ae5e29df74fd9" /><Relationship Type="http://schemas.openxmlformats.org/officeDocument/2006/relationships/slide" Target="/ppt/slides/slide1.xml" Id="R52d93a782b5c4eff" /><Relationship Type="http://schemas.openxmlformats.org/officeDocument/2006/relationships/slide" Target="/ppt/slides/slide2.xml" Id="R6612631a6d754140" /><Relationship Type="http://schemas.openxmlformats.org/officeDocument/2006/relationships/slide" Target="/ppt/slides/slide3.xml" Id="R00bd27ca3d8449ff" /><Relationship Type="http://schemas.openxmlformats.org/officeDocument/2006/relationships/slide" Target="/ppt/slides/slide4.xml" Id="R8224aef945da440c" /><Relationship Type="http://schemas.openxmlformats.org/officeDocument/2006/relationships/slide" Target="/ppt/slides/slide5.xml" Id="Rf5e6a53166624853" /><Relationship Type="http://schemas.openxmlformats.org/officeDocument/2006/relationships/slide" Target="/ppt/slides/slide6.xml" Id="Rc64c344b33854ab9" /><Relationship Type="http://schemas.openxmlformats.org/officeDocument/2006/relationships/slide" Target="/ppt/slides/slide7.xml" Id="Rbad2106c85414cf9" /><Relationship Type="http://schemas.openxmlformats.org/officeDocument/2006/relationships/slide" Target="/ppt/slides/slide8.xml" Id="R6aa5ae18e13c4ec2" /><Relationship Type="http://schemas.openxmlformats.org/officeDocument/2006/relationships/slide" Target="/ppt/slides/slide9.xml" Id="R1932bf32335346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7b8e8f2e1a4d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7d1f0a14a54863" /><Relationship Type="http://schemas.openxmlformats.org/officeDocument/2006/relationships/notesMaster" Target="/ppt/notesMasters/notesMaster1.xml" Id="R8bd5b47873a240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2696881eae4b30" /><Relationship Type="http://schemas.openxmlformats.org/officeDocument/2006/relationships/notesMaster" Target="/ppt/notesMasters/notesMaster1.xml" Id="Refe996c5c73e4d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4842618f7a4ccf" /><Relationship Type="http://schemas.openxmlformats.org/officeDocument/2006/relationships/notesMaster" Target="/ppt/notesMasters/notesMaster1.xml" Id="R7a310f3843874b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7ebfd192b140c9" /><Relationship Type="http://schemas.openxmlformats.org/officeDocument/2006/relationships/notesMaster" Target="/ppt/notesMasters/notesMaster1.xml" Id="R1489cf5960ce43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e6caa0ac614a8a" /><Relationship Type="http://schemas.openxmlformats.org/officeDocument/2006/relationships/notesMaster" Target="/ppt/notesMasters/notesMaster1.xml" Id="R14fcb406eeaf4f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8eae8c35454bb0" /><Relationship Type="http://schemas.openxmlformats.org/officeDocument/2006/relationships/notesMaster" Target="/ppt/notesMasters/notesMaster1.xml" Id="R4d8ceef512a34a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1b287c8d4245a0" /><Relationship Type="http://schemas.openxmlformats.org/officeDocument/2006/relationships/notesMaster" Target="/ppt/notesMasters/notesMaster1.xml" Id="R38039fcf6b204b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5e442485b74746" /><Relationship Type="http://schemas.openxmlformats.org/officeDocument/2006/relationships/notesMaster" Target="/ppt/notesMasters/notesMaster1.xml" Id="R3b16266cc6094f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21b27ad87547ea" /><Relationship Type="http://schemas.openxmlformats.org/officeDocument/2006/relationships/notesMaster" Target="/ppt/notesMasters/notesMaster1.xml" Id="Raa2246e37cf348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GoPlan is an independent student project. Sources: GoPlan MVP PRD.docx and GoPlan-public/GoPlan-public/README.md. Founder and stage supplied by Soulaymane Alahiane. Updated focus supplied by the founder: students already admitted to a university who are choosing or planning a degree and remain open to exploration. University partners would fund student access. The project is seeking its first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 problem description supplied for this revision and GoPlan MVP PRD.docx. Newly admitted students need time to learn their university programs and may choose before reflecting on their interests or understanding the available options. Some program sheets may be difficult to access. These are product hypotheses, not findings from a measured student survey. The focus is admitted students choosing or planning their degree. No outcome or time-saving measurement has been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GoPlan MVP PRD.docx; GoPlan-public/GoPlan-public/README.md; docs/ARCHITECTURE.md. The questionnaire elicits student interests and goals. Explained AI recommendations support informed comparisons, rather than guaranteeing rational decisions. Reviewed academic data consolidates requirements and the deterministic scheduler checks prerequisites and credit limits. The product is intended to reduce manual research time, but the pilot must measure that benefit. No evidence establishes guaranteed information accuracy or superiority to human mentors. Adviser review remains necessary. The app does not connect to live registration and does not guarantee course availability or academic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updated founder focus, GoPlan MVP PRD.docx and README.md for local scope. Target users are admitted university students choosing or planning a degree and exploring academic options. Stellic product description: https://www.stellic.com/ (accessed 6 October 2026). Its platform covers planning, degree audit and advising. Advisers, catalogues and spreadsheets are alternative approaches, not a measured survey of student use. GoPlan positioning is a hypothesis to validate, not a claim of exclusive features or proven advantage. AUI is an initial program context, not a signed partner. Expansion requires reviewed university data. Market size and institutional willingness to pay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 statement and GoPlan-public/GoPlan-public/README.md. The current MVP provides student-facing planning and email-based authentication. University-side adviser accounts, student-ID identity integration, and linked student-adviser workspaces are planned pilot features, not current capabilities. The proposed university workspace would let each adviser access their assigned advisees and discuss shared plans with those students. Account relationships remain scoped to the relevant university. Student-ID verification and integration details must be agreed with pilot universities. Founder reports no users, revenue or signed partners.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founder updated the business model to university-funded student access. Universities are the intended paying customers and students are the users. No student-paid plan is proposed. Institutional pricing, contract terms, and pilot budgets remain to be agreed and validated. No university has signed or paid. Piloting universities are key to access, adviser participation, reviewed data, and future university contracts.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model evidence: GoPlan-public/GoPlan-public/.env.example, README.md and docs/DEPLOYMENT.md specify Groq-hosted openai/gpt-oss-120b. Official public model prices: https://console.groq.com/docs/model/openai/gpt-oss-120b and https://console.groq.com/docs/models (accessed 6 October 2026): USD 0.15 per million non-cached input tokens, USD 0.60 per million output tokens. Calculation is illustrative and is not an observed bill: 50,000 input tokens / 1,000,000 * USD 0.15 + 10,000 output tokens / 1,000,000 * USD 0.60 = USD 0.0135, or approximately USD 0.014 per plan. 1,000 such plans = USD 13.50, before research, retries, revisions and infrastructure. Browser research may involve additional usage and charges: https://console.groq.com/docs/tool-use/built-in-tools/browser-search. Funding request has no fixed amount. Pilot scope and measured costs should determine an event-specific budget. Other funding needs are hosting, storage, authentication email, academic data review, reliability work and pilot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updated founder request. Incubation should help secure pilot universities that fund student access and provide adviser participation. Planned product work includes university-scoped student-ID accounts and adviser accounts linked to assigned students. The pilot would measure accuracy against reviewed requirements and adviser assessments, decision usefulness, time saved, return use and cost. These are future measurements, not proven benefits. The plan has no promised dates, signed partners or completed pilot. Institutional pricing and expansion depend on pilot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name and email supplied by user. Founder leads the GoPlan MVP project. LinkedIn exact URL confirmed by user on 6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fc6f74504446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a6511a084d42bd" /><Relationship Type="http://schemas.openxmlformats.org/officeDocument/2006/relationships/slideLayout" Target="/ppt/slideLayouts/slideLayout1.xml" Id="Ra95276091d0c48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5276091d0c48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bcffbfc9a14405" /><Relationship Type="http://schemas.openxmlformats.org/officeDocument/2006/relationships/hyperlink" Target="https://planwithgoplan.com" TargetMode="External" Id="Re40748d1c35c43b0" /><Relationship Type="http://schemas.openxmlformats.org/officeDocument/2006/relationships/notesSlide" Target="/ppt/notesSlides/notesSlide1.xml" Id="Radd14d75a03c4a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d8a6c1e1494d8a" /><Relationship Type="http://schemas.openxmlformats.org/officeDocument/2006/relationships/notesSlide" Target="/ppt/notesSlides/notesSlide2.xml" Id="R17d944bf3bfd43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941a3a3bdbe4580" /><Relationship Type="http://schemas.openxmlformats.org/officeDocument/2006/relationships/notesSlide" Target="/ppt/notesSlides/notesSlide3.xml" Id="R447cb334124d47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29e5f1a0b14c03" /><Relationship Type="http://schemas.openxmlformats.org/officeDocument/2006/relationships/notesSlide" Target="/ppt/notesSlides/notesSlide4.xml" Id="Rffcdbc9b674f4f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9df9f12e3d486c" /><Relationship Type="http://schemas.openxmlformats.org/officeDocument/2006/relationships/notesSlide" Target="/ppt/notesSlides/notesSlide5.xml" Id="Rde1b271fd6224a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86a8c4794a4ae1" /><Relationship Type="http://schemas.openxmlformats.org/officeDocument/2006/relationships/notesSlide" Target="/ppt/notesSlides/notesSlide6.xml" Id="Rcae8188569734e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e473f8076a46b1" /><Relationship Type="http://schemas.openxmlformats.org/officeDocument/2006/relationships/hyperlink" Target="https://console.groq.com/docs/model/openai/gpt-oss-120b" TargetMode="External" Id="Rc86784be39974b0a" /><Relationship Type="http://schemas.openxmlformats.org/officeDocument/2006/relationships/notesSlide" Target="/ppt/notesSlides/notesSlide7.xml" Id="Rdc2e860df92c4c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c0be965e134422" /><Relationship Type="http://schemas.openxmlformats.org/officeDocument/2006/relationships/notesSlide" Target="/ppt/notesSlides/notesSlide8.xml" Id="Rb662c17bfbb44a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b0807c54b62426d" /><Relationship Type="http://schemas.openxmlformats.org/officeDocument/2006/relationships/hyperlink" Target="mailto:S.Alahiane@aui.ma" TargetMode="External" Id="R6dfc06aef01a4ec1" /><Relationship Type="http://schemas.openxmlformats.org/officeDocument/2006/relationships/hyperlink" Target="https://planwithgoplan.com" TargetMode="External" Id="R42382b6692f149ac" /><Relationship Type="http://schemas.openxmlformats.org/officeDocument/2006/relationships/hyperlink" Target="https://www.linkedin.com/in/soulaymane-alahiane-0b18a32b6" TargetMode="External" Id="R5a2a2d98132741f6" /><Relationship Type="http://schemas.openxmlformats.org/officeDocument/2006/relationships/notesSlide" Target="/ppt/notesSlides/notesSlide9.xml" Id="R0dc9528dc8f14ec4" /></Relationships>
</file>

<file path=ppt/slides/slide1.xml><?xml version="1.0" encoding="utf-8"?>
<p:sld xmlns:p="http://schemas.openxmlformats.org/presentationml/2006/main">
  <p:cSld>
    <p:bg>
      <p:bgPr>
        <a:solidFill xmlns:a="http://schemas.openxmlformats.org/drawingml/2006/main">
          <a:srgbClr val="143C37"/>
        </a:solidFill>
      </p:bgPr>
    </p:bg>
    <p:spTree>
      <p:nvGrpSpPr>
        <p:cNvPr id="1" name=""/>
        <p:cNvGrpSpPr/>
        <p:nvPr/>
      </p:nvGrpSpPr>
      <p:grpSpPr>
        <a:xfrm xmlns:a="http://schemas.openxmlformats.org/drawingml/2006/main"/>
      </p:grpSpPr>
      <p:sp>
        <p:nvSpPr>
          <p:cNvPr id="7" name="text-1-1">
            <a:extLst xmlns:a="http://schemas.openxmlformats.org/drawingml/2006/main">
              <a:ext uri="{FF2B5EF4-FFF2-40B4-BE49-F238E27FC236}">
                <a16:creationId xmlns:a16="http://schemas.microsoft.com/office/drawing/2014/main" id="{01CD880B-B711-44DB-9C09-A6EE57BBB1C2}"/>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CCDFDA"/>
                </a:solidFill>
                <a:latin typeface="Arial"/>
                <a:ea typeface="Arial"/>
                <a:cs typeface="Arial"/>
              </a:defRPr>
            </a:pPr>
            <a:r>
              <a:rPr sz="1650" b="0">
                <a:solidFill>
                  <a:srgbClr val="CCDFDA"/>
                </a:solidFill>
                <a:latin typeface="Arial"/>
                <a:ea typeface="Arial"/>
                <a:cs typeface="Arial"/>
              </a:rPr>
              <a:t>1</a:t>
            </a:r>
          </a:p>
        </p:txBody>
      </p:sp>
      <p:sp>
        <p:nvSpPr>
          <p:cNvPr id="2" name="text-1-2">
            <a:extLst xmlns:a="http://schemas.openxmlformats.org/drawingml/2006/main">
              <a:ext uri="{FF2B5EF4-FFF2-40B4-BE49-F238E27FC236}">
                <a16:creationId xmlns:a16="http://schemas.microsoft.com/office/drawing/2014/main" id="{9CB89F32-E2E4-4D0A-AE8F-290959F1B257}"/>
              </a:ext>
            </a:extLst>
          </p:cNvPr>
          <p:cNvSpPr>
            <a:spLocks xmlns:a="http://schemas.openxmlformats.org/drawingml/2006/main" noGrp="1"/>
          </p:cNvSpPr>
          <p:nvPr/>
        </p:nvSpPr>
        <p:spPr>
          <a:xfrm xmlns:a="http://schemas.openxmlformats.org/drawingml/2006/main">
            <a:off x="762000" y="13049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FFFFFF"/>
                </a:solidFill>
                <a:latin typeface="Arial"/>
                <a:ea typeface="Arial"/>
                <a:cs typeface="Arial"/>
              </a:defRPr>
            </a:pPr>
            <a:r>
              <a:rPr sz="6600" b="1">
                <a:solidFill>
                  <a:srgbClr val="FFFFFF"/>
                </a:solidFill>
                <a:latin typeface="Arial"/>
                <a:ea typeface="Arial"/>
                <a:cs typeface="Arial"/>
              </a:rPr>
              <a:t>GoPlan</a:t>
            </a:r>
          </a:p>
        </p:txBody>
      </p:sp>
      <p:sp>
        <p:nvSpPr>
          <p:cNvPr id="3" name="text-1-3">
            <a:extLst xmlns:a="http://schemas.openxmlformats.org/drawingml/2006/main">
              <a:ext uri="{FF2B5EF4-FFF2-40B4-BE49-F238E27FC236}">
                <a16:creationId xmlns:a16="http://schemas.microsoft.com/office/drawing/2014/main" id="{08C5A793-22AA-47F8-B7D1-9283B3722C6B}"/>
              </a:ext>
            </a:extLst>
          </p:cNvPr>
          <p:cNvSpPr>
            <a:spLocks xmlns:a="http://schemas.openxmlformats.org/drawingml/2006/main" noGrp="1"/>
          </p:cNvSpPr>
          <p:nvPr/>
        </p:nvSpPr>
        <p:spPr>
          <a:xfrm xmlns:a="http://schemas.openxmlformats.org/drawingml/2006/main">
            <a:off x="762000" y="2619375"/>
            <a:ext cx="1038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FFFFFF"/>
                </a:solidFill>
                <a:latin typeface="Arial"/>
                <a:ea typeface="Arial"/>
                <a:cs typeface="Arial"/>
              </a:defRPr>
            </a:pPr>
            <a:r>
              <a:rPr sz="3000" b="0">
                <a:solidFill>
                  <a:srgbClr val="FFFFFF"/>
                </a:solidFill>
                <a:latin typeface="Arial"/>
                <a:ea typeface="Arial"/>
                <a:cs typeface="Arial"/>
              </a:rPr>
              <a:t>Degree planning for admitted students</a:t>
            </a:r>
          </a:p>
        </p:txBody>
      </p:sp>
      <p:sp>
        <p:nvSpPr>
          <p:cNvPr id="4" name="text-1-4">
            <a:extLst xmlns:a="http://schemas.openxmlformats.org/drawingml/2006/main">
              <a:ext uri="{FF2B5EF4-FFF2-40B4-BE49-F238E27FC236}">
                <a16:creationId xmlns:a16="http://schemas.microsoft.com/office/drawing/2014/main" id="{B2583BF5-1CCE-4B33-8B4A-F29390103264}"/>
              </a:ext>
            </a:extLst>
          </p:cNvPr>
          <p:cNvSpPr>
            <a:spLocks xmlns:a="http://schemas.openxmlformats.org/drawingml/2006/main" noGrp="1"/>
          </p:cNvSpPr>
          <p:nvPr/>
        </p:nvSpPr>
        <p:spPr>
          <a:xfrm xmlns:a="http://schemas.openxmlformats.org/drawingml/2006/main">
            <a:off x="762000" y="3533775"/>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CCDFDA"/>
                </a:solidFill>
                <a:latin typeface="Arial"/>
                <a:ea typeface="Arial"/>
                <a:cs typeface="Arial"/>
              </a:defRPr>
            </a:pPr>
            <a:r>
              <a:rPr sz="2250" b="0">
                <a:solidFill>
                  <a:srgbClr val="CCDFDA"/>
                </a:solidFill>
                <a:latin typeface="Arial"/>
                <a:ea typeface="Arial"/>
                <a:cs typeface="Arial"/>
              </a:rPr>
              <a:t>Seeking university partners for a funded pilot</a:t>
            </a:r>
          </a:p>
        </p:txBody>
      </p:sp>
      <p:sp>
        <p:nvSpPr>
          <p:cNvPr id="5" name="text-1-5">
            <a:extLst xmlns:a="http://schemas.openxmlformats.org/drawingml/2006/main">
              <a:ext uri="{FF2B5EF4-FFF2-40B4-BE49-F238E27FC236}">
                <a16:creationId xmlns:a16="http://schemas.microsoft.com/office/drawing/2014/main" id="{7A204776-2985-498F-BE4E-2F87B58E4899}"/>
              </a:ext>
            </a:extLst>
          </p:cNvPr>
          <p:cNvSpPr>
            <a:spLocks xmlns:a="http://schemas.openxmlformats.org/drawingml/2006/main" noGrp="1"/>
          </p:cNvSpPr>
          <p:nvPr/>
        </p:nvSpPr>
        <p:spPr>
          <a:xfrm xmlns:a="http://schemas.openxmlformats.org/drawingml/2006/main">
            <a:off x="762000" y="4819650"/>
            <a:ext cx="7429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Soulaymane Alahiane</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Founder</a:t>
            </a:r>
          </a:p>
        </p:txBody>
      </p:sp>
      <p:sp>
        <p:nvSpPr>
          <p:cNvPr id="6" name="text-1-6">
            <a:extLst xmlns:a="http://schemas.openxmlformats.org/drawingml/2006/main">
              <a:ext uri="{FF2B5EF4-FFF2-40B4-BE49-F238E27FC236}">
                <a16:creationId xmlns:a16="http://schemas.microsoft.com/office/drawing/2014/main" id="{7F14BEB6-7BEC-45AA-899B-C3784844C48D}"/>
              </a:ext>
            </a:extLst>
          </p:cNvPr>
          <p:cNvSpPr>
            <a:spLocks xmlns:a="http://schemas.openxmlformats.org/drawingml/2006/main" noGrp="1"/>
          </p:cNvSpPr>
          <p:nvPr/>
        </p:nvSpPr>
        <p:spPr>
          <a:xfrm xmlns:a="http://schemas.openxmlformats.org/drawingml/2006/main">
            <a:off x="762000" y="60007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CDFDA"/>
                </a:solidFill>
                <a:latin typeface="Arial"/>
                <a:ea typeface="Arial"/>
                <a:cs typeface="Arial"/>
              </a:defRPr>
            </a:pPr>
            <a:r>
              <a:rPr sz="1950" b="0">
                <a:solidFill>
                  <a:srgbClr val="CCDFDA"/>
                </a:solidFill>
                <a:latin typeface="Arial"/>
                <a:ea typeface="Arial"/>
                <a:cs typeface="Arial"/>
                <a:hlinkClick xmlns:r="http://schemas.openxmlformats.org/officeDocument/2006/relationships" r:id="Re40748d1c35c43b0"/>
              </a:rPr>
              <a:t>planwithgoplan.com</a:t>
            </a:r>
          </a:p>
        </p:txBody>
      </p:sp>
    </p:spTree>
    <p:extLst>
      <p:ext uri="{BB962C8B-B14F-4D97-AF65-F5344CB8AC3E}">
        <p14:creationId xmlns:p14="http://schemas.microsoft.com/office/powerpoint/2010/main" val="7806752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2-1">
            <a:extLst xmlns:a="http://schemas.openxmlformats.org/drawingml/2006/main">
              <a:ext uri="{FF2B5EF4-FFF2-40B4-BE49-F238E27FC236}">
                <a16:creationId xmlns:a16="http://schemas.microsoft.com/office/drawing/2014/main" id="{40122491-6DAA-4ED4-BB93-266D90623391}"/>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Problem</a:t>
            </a:r>
          </a:p>
        </p:txBody>
      </p:sp>
      <p:sp>
        <p:nvSpPr>
          <p:cNvPr id="2" name="text-2-2">
            <a:extLst xmlns:a="http://schemas.openxmlformats.org/drawingml/2006/main">
              <a:ext uri="{FF2B5EF4-FFF2-40B4-BE49-F238E27FC236}">
                <a16:creationId xmlns:a16="http://schemas.microsoft.com/office/drawing/2014/main" id="{D132B0FD-8F66-4BFB-B772-AB3CA8671EA6}"/>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2</a:t>
            </a:r>
          </a:p>
        </p:txBody>
      </p:sp>
      <p:sp>
        <p:nvSpPr>
          <p:cNvPr id="3" name="text-2-3">
            <a:extLst xmlns:a="http://schemas.openxmlformats.org/drawingml/2006/main">
              <a:ext uri="{FF2B5EF4-FFF2-40B4-BE49-F238E27FC236}">
                <a16:creationId xmlns:a16="http://schemas.microsoft.com/office/drawing/2014/main" id="{08D6A3FC-208B-4BDD-B0F7-A0304085CF1D}"/>
              </a:ext>
            </a:extLst>
          </p:cNvPr>
          <p:cNvSpPr>
            <a:spLocks xmlns:a="http://schemas.openxmlformats.org/drawingml/2006/main" noGrp="1"/>
          </p:cNvSpPr>
          <p:nvPr/>
        </p:nvSpPr>
        <p:spPr>
          <a:xfrm xmlns:a="http://schemas.openxmlformats.org/drawingml/2006/main">
            <a:off x="762000" y="16954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Understanding the university takes time</a:t>
            </a:r>
          </a:p>
        </p:txBody>
      </p:sp>
      <p:sp>
        <p:nvSpPr>
          <p:cNvPr id="4" name="text-2-4">
            <a:extLst xmlns:a="http://schemas.openxmlformats.org/drawingml/2006/main">
              <a:ext uri="{FF2B5EF4-FFF2-40B4-BE49-F238E27FC236}">
                <a16:creationId xmlns:a16="http://schemas.microsoft.com/office/drawing/2014/main" id="{0F712625-A391-4A9F-A3C1-2538B20F5715}"/>
              </a:ext>
            </a:extLst>
          </p:cNvPr>
          <p:cNvSpPr>
            <a:spLocks xmlns:a="http://schemas.openxmlformats.org/drawingml/2006/main" noGrp="1"/>
          </p:cNvSpPr>
          <p:nvPr/>
        </p:nvSpPr>
        <p:spPr>
          <a:xfrm xmlns:a="http://schemas.openxmlformats.org/drawingml/2006/main">
            <a:off x="762000" y="216217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Newly admitted students may choose a degree before they understand</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its programs, requirements and career paths.</a:t>
            </a:r>
          </a:p>
        </p:txBody>
      </p:sp>
      <p:sp>
        <p:nvSpPr>
          <p:cNvPr id="5" name="text-2-5">
            <a:extLst xmlns:a="http://schemas.openxmlformats.org/drawingml/2006/main">
              <a:ext uri="{FF2B5EF4-FFF2-40B4-BE49-F238E27FC236}">
                <a16:creationId xmlns:a16="http://schemas.microsoft.com/office/drawing/2014/main" id="{D7C19652-AF67-40CF-8E32-6C2703A0F4D2}"/>
              </a:ext>
            </a:extLst>
          </p:cNvPr>
          <p:cNvSpPr>
            <a:spLocks xmlns:a="http://schemas.openxmlformats.org/drawingml/2006/main" noGrp="1"/>
          </p:cNvSpPr>
          <p:nvPr/>
        </p:nvSpPr>
        <p:spPr>
          <a:xfrm xmlns:a="http://schemas.openxmlformats.org/drawingml/2006/main">
            <a:off x="762000" y="31718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Interests need structured exploration</a:t>
            </a:r>
          </a:p>
        </p:txBody>
      </p:sp>
      <p:sp>
        <p:nvSpPr>
          <p:cNvPr id="6" name="text-2-6">
            <a:extLst xmlns:a="http://schemas.openxmlformats.org/drawingml/2006/main">
              <a:ext uri="{FF2B5EF4-FFF2-40B4-BE49-F238E27FC236}">
                <a16:creationId xmlns:a16="http://schemas.microsoft.com/office/drawing/2014/main" id="{02588D00-2900-4543-A480-E3409C1AF34A}"/>
              </a:ext>
            </a:extLst>
          </p:cNvPr>
          <p:cNvSpPr>
            <a:spLocks xmlns:a="http://schemas.openxmlformats.org/drawingml/2006/main" noGrp="1"/>
          </p:cNvSpPr>
          <p:nvPr/>
        </p:nvSpPr>
        <p:spPr>
          <a:xfrm xmlns:a="http://schemas.openxmlformats.org/drawingml/2006/main">
            <a:off x="762000" y="363855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Students may not have reflected on the questions that clarify</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what they want to study and why.</a:t>
            </a:r>
          </a:p>
        </p:txBody>
      </p:sp>
      <p:sp>
        <p:nvSpPr>
          <p:cNvPr id="7" name="text-2-7">
            <a:extLst xmlns:a="http://schemas.openxmlformats.org/drawingml/2006/main">
              <a:ext uri="{FF2B5EF4-FFF2-40B4-BE49-F238E27FC236}">
                <a16:creationId xmlns:a16="http://schemas.microsoft.com/office/drawing/2014/main" id="{3879C72D-EED8-48B3-8C13-73F3BC7C6B50}"/>
              </a:ext>
            </a:extLst>
          </p:cNvPr>
          <p:cNvSpPr>
            <a:spLocks xmlns:a="http://schemas.openxmlformats.org/drawingml/2006/main" noGrp="1"/>
          </p:cNvSpPr>
          <p:nvPr/>
        </p:nvSpPr>
        <p:spPr>
          <a:xfrm xmlns:a="http://schemas.openxmlformats.org/drawingml/2006/main">
            <a:off x="762000" y="46482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Program information takes effort to find</a:t>
            </a:r>
          </a:p>
        </p:txBody>
      </p:sp>
      <p:sp>
        <p:nvSpPr>
          <p:cNvPr id="8" name="text-2-8">
            <a:extLst xmlns:a="http://schemas.openxmlformats.org/drawingml/2006/main">
              <a:ext uri="{FF2B5EF4-FFF2-40B4-BE49-F238E27FC236}">
                <a16:creationId xmlns:a16="http://schemas.microsoft.com/office/drawing/2014/main" id="{EFFC52B2-76C0-4C60-BD3A-DDEF33BD9173}"/>
              </a:ext>
            </a:extLst>
          </p:cNvPr>
          <p:cNvSpPr>
            <a:spLocks xmlns:a="http://schemas.openxmlformats.org/drawingml/2006/main" noGrp="1"/>
          </p:cNvSpPr>
          <p:nvPr/>
        </p:nvSpPr>
        <p:spPr>
          <a:xfrm xmlns:a="http://schemas.openxmlformats.org/drawingml/2006/main">
            <a:off x="762000" y="51149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Reading scattered catalogues and program sheets takes time.</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Some sheets may be difficult to access.</a:t>
            </a:r>
          </a:p>
        </p:txBody>
      </p:sp>
    </p:spTree>
    <p:extLst>
      <p:ext uri="{BB962C8B-B14F-4D97-AF65-F5344CB8AC3E}">
        <p14:creationId xmlns:p14="http://schemas.microsoft.com/office/powerpoint/2010/main" val="7642653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3-1">
            <a:extLst xmlns:a="http://schemas.openxmlformats.org/drawingml/2006/main">
              <a:ext uri="{FF2B5EF4-FFF2-40B4-BE49-F238E27FC236}">
                <a16:creationId xmlns:a16="http://schemas.microsoft.com/office/drawing/2014/main" id="{EA0FB1F8-76F0-41E1-ACF6-A23949BE2DAE}"/>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Solution and MVP</a:t>
            </a:r>
          </a:p>
        </p:txBody>
      </p:sp>
      <p:sp>
        <p:nvSpPr>
          <p:cNvPr id="2" name="text-3-2">
            <a:extLst xmlns:a="http://schemas.openxmlformats.org/drawingml/2006/main">
              <a:ext uri="{FF2B5EF4-FFF2-40B4-BE49-F238E27FC236}">
                <a16:creationId xmlns:a16="http://schemas.microsoft.com/office/drawing/2014/main" id="{48D858DA-D4F8-481C-A17A-74784AB2A034}"/>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3</a:t>
            </a:r>
          </a:p>
        </p:txBody>
      </p:sp>
      <p:sp>
        <p:nvSpPr>
          <p:cNvPr id="3" name="text-3-3">
            <a:extLst xmlns:a="http://schemas.openxmlformats.org/drawingml/2006/main">
              <a:ext uri="{FF2B5EF4-FFF2-40B4-BE49-F238E27FC236}">
                <a16:creationId xmlns:a16="http://schemas.microsoft.com/office/drawing/2014/main" id="{C10953C6-4449-4435-9EB0-4AE289BA9B4E}"/>
              </a:ext>
            </a:extLst>
          </p:cNvPr>
          <p:cNvSpPr>
            <a:spLocks xmlns:a="http://schemas.openxmlformats.org/drawingml/2006/main" noGrp="1"/>
          </p:cNvSpPr>
          <p:nvPr/>
        </p:nvSpPr>
        <p:spPr>
          <a:xfrm xmlns:a="http://schemas.openxmlformats.org/drawingml/2006/main">
            <a:off x="762000" y="16954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Interest exploration</a:t>
            </a:r>
          </a:p>
        </p:txBody>
      </p:sp>
      <p:sp>
        <p:nvSpPr>
          <p:cNvPr id="4" name="text-3-4">
            <a:extLst xmlns:a="http://schemas.openxmlformats.org/drawingml/2006/main">
              <a:ext uri="{FF2B5EF4-FFF2-40B4-BE49-F238E27FC236}">
                <a16:creationId xmlns:a16="http://schemas.microsoft.com/office/drawing/2014/main" id="{0563EBB2-2DFA-42EB-9695-5B90AE3F7601}"/>
              </a:ext>
            </a:extLst>
          </p:cNvPr>
          <p:cNvSpPr>
            <a:spLocks xmlns:a="http://schemas.openxmlformats.org/drawingml/2006/main" noGrp="1"/>
          </p:cNvSpPr>
          <p:nvPr/>
        </p:nvSpPr>
        <p:spPr>
          <a:xfrm xmlns:a="http://schemas.openxmlformats.org/drawingml/2006/main">
            <a:off x="762000" y="216217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A guided questionnaire helps students reflect on their goals</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and compare degree options with explained AI recommendations.</a:t>
            </a:r>
          </a:p>
        </p:txBody>
      </p:sp>
      <p:sp>
        <p:nvSpPr>
          <p:cNvPr id="5" name="text-3-5">
            <a:extLst xmlns:a="http://schemas.openxmlformats.org/drawingml/2006/main">
              <a:ext uri="{FF2B5EF4-FFF2-40B4-BE49-F238E27FC236}">
                <a16:creationId xmlns:a16="http://schemas.microsoft.com/office/drawing/2014/main" id="{3B08A41A-72DD-4816-9A5C-20F0A8F5A6BA}"/>
              </a:ext>
            </a:extLst>
          </p:cNvPr>
          <p:cNvSpPr>
            <a:spLocks xmlns:a="http://schemas.openxmlformats.org/drawingml/2006/main" noGrp="1"/>
          </p:cNvSpPr>
          <p:nvPr/>
        </p:nvSpPr>
        <p:spPr>
          <a:xfrm xmlns:a="http://schemas.openxmlformats.org/drawingml/2006/main">
            <a:off x="762000" y="31718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Program information</a:t>
            </a:r>
          </a:p>
        </p:txBody>
      </p:sp>
      <p:sp>
        <p:nvSpPr>
          <p:cNvPr id="6" name="text-3-6">
            <a:extLst xmlns:a="http://schemas.openxmlformats.org/drawingml/2006/main">
              <a:ext uri="{FF2B5EF4-FFF2-40B4-BE49-F238E27FC236}">
                <a16:creationId xmlns:a16="http://schemas.microsoft.com/office/drawing/2014/main" id="{63FCE8ED-C680-46C9-BA6D-3477C18AE648}"/>
              </a:ext>
            </a:extLst>
          </p:cNvPr>
          <p:cNvSpPr>
            <a:spLocks xmlns:a="http://schemas.openxmlformats.org/drawingml/2006/main" noGrp="1"/>
          </p:cNvSpPr>
          <p:nvPr/>
        </p:nvSpPr>
        <p:spPr>
          <a:xfrm xmlns:a="http://schemas.openxmlformats.org/drawingml/2006/main">
            <a:off x="762000" y="363855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Reviewed university data brings requirements into one place.</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Academic rules check prerequisites and credit limits.</a:t>
            </a:r>
          </a:p>
        </p:txBody>
      </p:sp>
      <p:sp>
        <p:nvSpPr>
          <p:cNvPr id="7" name="text-3-7">
            <a:extLst xmlns:a="http://schemas.openxmlformats.org/drawingml/2006/main">
              <a:ext uri="{FF2B5EF4-FFF2-40B4-BE49-F238E27FC236}">
                <a16:creationId xmlns:a16="http://schemas.microsoft.com/office/drawing/2014/main" id="{BB760B49-13C0-4F5B-BFE2-D8D6BCF08877}"/>
              </a:ext>
            </a:extLst>
          </p:cNvPr>
          <p:cNvSpPr>
            <a:spLocks xmlns:a="http://schemas.openxmlformats.org/drawingml/2006/main" noGrp="1"/>
          </p:cNvSpPr>
          <p:nvPr/>
        </p:nvSpPr>
        <p:spPr>
          <a:xfrm xmlns:a="http://schemas.openxmlformats.org/drawingml/2006/main">
            <a:off x="762000" y="46482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Degree planning</a:t>
            </a:r>
          </a:p>
        </p:txBody>
      </p:sp>
      <p:sp>
        <p:nvSpPr>
          <p:cNvPr id="8" name="text-3-8">
            <a:extLst xmlns:a="http://schemas.openxmlformats.org/drawingml/2006/main">
              <a:ext uri="{FF2B5EF4-FFF2-40B4-BE49-F238E27FC236}">
                <a16:creationId xmlns:a16="http://schemas.microsoft.com/office/drawing/2014/main" id="{7C52C48A-B3F5-40D4-A678-F486AB2B5448}"/>
              </a:ext>
            </a:extLst>
          </p:cNvPr>
          <p:cNvSpPr>
            <a:spLocks xmlns:a="http://schemas.openxmlformats.org/drawingml/2006/main" noGrp="1"/>
          </p:cNvSpPr>
          <p:nvPr/>
        </p:nvSpPr>
        <p:spPr>
          <a:xfrm xmlns:a="http://schemas.openxmlformats.org/drawingml/2006/main">
            <a:off x="762000" y="51149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Build and revise a semester plan. Track progress and save it.</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Explore internships and exchanges. Export to Excel.</a:t>
            </a:r>
          </a:p>
        </p:txBody>
      </p:sp>
      <p:sp>
        <p:nvSpPr>
          <p:cNvPr id="9" name="text-3-9">
            <a:extLst xmlns:a="http://schemas.openxmlformats.org/drawingml/2006/main">
              <a:ext uri="{FF2B5EF4-FFF2-40B4-BE49-F238E27FC236}">
                <a16:creationId xmlns:a16="http://schemas.microsoft.com/office/drawing/2014/main" id="{51B75293-A9D5-4931-97C8-1CEBE950784C}"/>
              </a:ext>
            </a:extLst>
          </p:cNvPr>
          <p:cNvSpPr>
            <a:spLocks xmlns:a="http://schemas.openxmlformats.org/drawingml/2006/main" noGrp="1"/>
          </p:cNvSpPr>
          <p:nvPr/>
        </p:nvSpPr>
        <p:spPr>
          <a:xfrm xmlns:a="http://schemas.openxmlformats.org/drawingml/2006/main">
            <a:off x="762000" y="5905500"/>
            <a:ext cx="1057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47673"/>
                </a:solidFill>
                <a:latin typeface="Arial"/>
                <a:ea typeface="Arial"/>
                <a:cs typeface="Arial"/>
              </a:defRPr>
            </a:pPr>
            <a:r>
              <a:rPr sz="1800" b="0">
                <a:solidFill>
                  <a:srgbClr val="647673"/>
                </a:solidFill>
                <a:latin typeface="Arial"/>
                <a:ea typeface="Arial"/>
                <a:cs typeface="Arial"/>
              </a:rPr>
              <a:t>Current coverage: supported AUI programs. Adviser review remains necessary.</a:t>
            </a:r>
          </a:p>
        </p:txBody>
      </p:sp>
    </p:spTree>
    <p:extLst>
      <p:ext uri="{BB962C8B-B14F-4D97-AF65-F5344CB8AC3E}">
        <p14:creationId xmlns:p14="http://schemas.microsoft.com/office/powerpoint/2010/main" val="356226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4-1">
            <a:extLst xmlns:a="http://schemas.openxmlformats.org/drawingml/2006/main">
              <a:ext uri="{FF2B5EF4-FFF2-40B4-BE49-F238E27FC236}">
                <a16:creationId xmlns:a16="http://schemas.microsoft.com/office/drawing/2014/main" id="{DC6D58DC-00F7-459A-B505-968E238C7388}"/>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Users and alternatives</a:t>
            </a:r>
          </a:p>
        </p:txBody>
      </p:sp>
      <p:sp>
        <p:nvSpPr>
          <p:cNvPr id="2" name="text-4-2">
            <a:extLst xmlns:a="http://schemas.openxmlformats.org/drawingml/2006/main">
              <a:ext uri="{FF2B5EF4-FFF2-40B4-BE49-F238E27FC236}">
                <a16:creationId xmlns:a16="http://schemas.microsoft.com/office/drawing/2014/main" id="{F66C0FC5-8639-4089-AEA9-5DDFE20191E4}"/>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4</a:t>
            </a:r>
          </a:p>
        </p:txBody>
      </p:sp>
      <p:sp>
        <p:nvSpPr>
          <p:cNvPr id="3" name="text-4-3">
            <a:extLst xmlns:a="http://schemas.openxmlformats.org/drawingml/2006/main">
              <a:ext uri="{FF2B5EF4-FFF2-40B4-BE49-F238E27FC236}">
                <a16:creationId xmlns:a16="http://schemas.microsoft.com/office/drawing/2014/main" id="{BF070237-C5A6-405A-8AEF-33F7E2D7F2F4}"/>
              </a:ext>
            </a:extLst>
          </p:cNvPr>
          <p:cNvSpPr>
            <a:spLocks xmlns:a="http://schemas.openxmlformats.org/drawingml/2006/main" noGrp="1"/>
          </p:cNvSpPr>
          <p:nvPr/>
        </p:nvSpPr>
        <p:spPr>
          <a:xfrm xmlns:a="http://schemas.openxmlformats.org/drawingml/2006/main">
            <a:off x="762000" y="16954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Target users</a:t>
            </a:r>
          </a:p>
        </p:txBody>
      </p:sp>
      <p:sp>
        <p:nvSpPr>
          <p:cNvPr id="4" name="text-4-4">
            <a:extLst xmlns:a="http://schemas.openxmlformats.org/drawingml/2006/main">
              <a:ext uri="{FF2B5EF4-FFF2-40B4-BE49-F238E27FC236}">
                <a16:creationId xmlns:a16="http://schemas.microsoft.com/office/drawing/2014/main" id="{6D8EC46B-81A3-47F3-B06A-5F6F720F3B3B}"/>
              </a:ext>
            </a:extLst>
          </p:cNvPr>
          <p:cNvSpPr>
            <a:spLocks xmlns:a="http://schemas.openxmlformats.org/drawingml/2006/main" noGrp="1"/>
          </p:cNvSpPr>
          <p:nvPr/>
        </p:nvSpPr>
        <p:spPr>
          <a:xfrm xmlns:a="http://schemas.openxmlformats.org/drawingml/2006/main">
            <a:off x="762000" y="2247900"/>
            <a:ext cx="4857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Admitted students choosing or</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planning a degree, with room</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to explore academic options.</a:t>
            </a:r>
          </a:p>
          <a:p xmlns:a="http://schemas.openxmlformats.org/drawingml/2006/main">
            <a:r>
              <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Start with supported AUI programs.</a:t>
            </a:r>
          </a:p>
        </p:txBody>
      </p:sp>
      <p:sp>
        <p:nvSpPr>
          <p:cNvPr id="5" name="text-4-5">
            <a:extLst xmlns:a="http://schemas.openxmlformats.org/drawingml/2006/main">
              <a:ext uri="{FF2B5EF4-FFF2-40B4-BE49-F238E27FC236}">
                <a16:creationId xmlns:a16="http://schemas.microsoft.com/office/drawing/2014/main" id="{F345BEE7-B3BD-49CD-891C-97589E247452}"/>
              </a:ext>
            </a:extLst>
          </p:cNvPr>
          <p:cNvSpPr>
            <a:spLocks xmlns:a="http://schemas.openxmlformats.org/drawingml/2006/main" noGrp="1"/>
          </p:cNvSpPr>
          <p:nvPr/>
        </p:nvSpPr>
        <p:spPr>
          <a:xfrm xmlns:a="http://schemas.openxmlformats.org/drawingml/2006/main">
            <a:off x="6572250" y="16954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Existing approaches</a:t>
            </a:r>
          </a:p>
        </p:txBody>
      </p:sp>
      <p:sp>
        <p:nvSpPr>
          <p:cNvPr id="6" name="text-4-6">
            <a:extLst xmlns:a="http://schemas.openxmlformats.org/drawingml/2006/main">
              <a:ext uri="{FF2B5EF4-FFF2-40B4-BE49-F238E27FC236}">
                <a16:creationId xmlns:a16="http://schemas.microsoft.com/office/drawing/2014/main" id="{694514C7-F88C-492D-80EF-817A5131790B}"/>
              </a:ext>
            </a:extLst>
          </p:cNvPr>
          <p:cNvSpPr>
            <a:spLocks xmlns:a="http://schemas.openxmlformats.org/drawingml/2006/main" noGrp="1"/>
          </p:cNvSpPr>
          <p:nvPr/>
        </p:nvSpPr>
        <p:spPr>
          <a:xfrm xmlns:a="http://schemas.openxmlformats.org/drawingml/2006/main">
            <a:off x="6572250" y="2247900"/>
            <a:ext cx="4857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Advisers, catalogues and</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planning spreadsheets.</a:t>
            </a:r>
          </a:p>
          <a:p xmlns:a="http://schemas.openxmlformats.org/drawingml/2006/main">
            <a:r>
              <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Platforms such as Stellic cover</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degree planning and advising.</a:t>
            </a:r>
          </a:p>
        </p:txBody>
      </p:sp>
      <p:sp>
        <p:nvSpPr>
          <p:cNvPr id="7" name="text-4-7">
            <a:extLst xmlns:a="http://schemas.openxmlformats.org/drawingml/2006/main">
              <a:ext uri="{FF2B5EF4-FFF2-40B4-BE49-F238E27FC236}">
                <a16:creationId xmlns:a16="http://schemas.microsoft.com/office/drawing/2014/main" id="{C50E90B1-1248-4A12-A927-00DAB8B67960}"/>
              </a:ext>
            </a:extLst>
          </p:cNvPr>
          <p:cNvSpPr>
            <a:spLocks xmlns:a="http://schemas.openxmlformats.org/drawingml/2006/main" noGrp="1"/>
          </p:cNvSpPr>
          <p:nvPr/>
        </p:nvSpPr>
        <p:spPr>
          <a:xfrm xmlns:a="http://schemas.openxmlformats.org/drawingml/2006/main">
            <a:off x="762000" y="47625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GoPlan focus</a:t>
            </a:r>
          </a:p>
        </p:txBody>
      </p:sp>
      <p:sp>
        <p:nvSpPr>
          <p:cNvPr id="8" name="text-4-8">
            <a:extLst xmlns:a="http://schemas.openxmlformats.org/drawingml/2006/main">
              <a:ext uri="{FF2B5EF4-FFF2-40B4-BE49-F238E27FC236}">
                <a16:creationId xmlns:a16="http://schemas.microsoft.com/office/drawing/2014/main" id="{3461645D-512A-4B61-93A2-D02DD22E74B8}"/>
              </a:ext>
            </a:extLst>
          </p:cNvPr>
          <p:cNvSpPr>
            <a:spLocks xmlns:a="http://schemas.openxmlformats.org/drawingml/2006/main" noGrp="1"/>
          </p:cNvSpPr>
          <p:nvPr/>
        </p:nvSpPr>
        <p:spPr>
          <a:xfrm xmlns:a="http://schemas.openxmlformats.org/drawingml/2006/main">
            <a:off x="762000" y="5267325"/>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Help admitted students explore their interests and plan a degree</a:t>
            </a:r>
          </a:p>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using reviewed university requirements.</a:t>
            </a:r>
          </a:p>
        </p:txBody>
      </p:sp>
    </p:spTree>
    <p:extLst>
      <p:ext uri="{BB962C8B-B14F-4D97-AF65-F5344CB8AC3E}">
        <p14:creationId xmlns:p14="http://schemas.microsoft.com/office/powerpoint/2010/main" val="18888687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5-1">
            <a:extLst xmlns:a="http://schemas.openxmlformats.org/drawingml/2006/main">
              <a:ext uri="{FF2B5EF4-FFF2-40B4-BE49-F238E27FC236}">
                <a16:creationId xmlns:a16="http://schemas.microsoft.com/office/drawing/2014/main" id="{5404CE19-6AAC-481E-A206-6B053700C46B}"/>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MVP and university pilot</a:t>
            </a:r>
          </a:p>
        </p:txBody>
      </p:sp>
      <p:sp>
        <p:nvSpPr>
          <p:cNvPr id="2" name="text-5-2">
            <a:extLst xmlns:a="http://schemas.openxmlformats.org/drawingml/2006/main">
              <a:ext uri="{FF2B5EF4-FFF2-40B4-BE49-F238E27FC236}">
                <a16:creationId xmlns:a16="http://schemas.microsoft.com/office/drawing/2014/main" id="{D284A833-2DC7-4392-A82B-BD653EEF37A4}"/>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5</a:t>
            </a:r>
          </a:p>
        </p:txBody>
      </p:sp>
      <p:sp>
        <p:nvSpPr>
          <p:cNvPr id="3" name="text-5-3">
            <a:extLst xmlns:a="http://schemas.openxmlformats.org/drawingml/2006/main">
              <a:ext uri="{FF2B5EF4-FFF2-40B4-BE49-F238E27FC236}">
                <a16:creationId xmlns:a16="http://schemas.microsoft.com/office/drawing/2014/main" id="{EF66026F-14AD-4499-AE81-1BA79802E423}"/>
              </a:ext>
            </a:extLst>
          </p:cNvPr>
          <p:cNvSpPr>
            <a:spLocks xmlns:a="http://schemas.openxmlformats.org/drawingml/2006/main" noGrp="1"/>
          </p:cNvSpPr>
          <p:nvPr/>
        </p:nvSpPr>
        <p:spPr>
          <a:xfrm xmlns:a="http://schemas.openxmlformats.org/drawingml/2006/main">
            <a:off x="762000" y="16954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Current MVP</a:t>
            </a:r>
          </a:p>
        </p:txBody>
      </p:sp>
      <p:sp>
        <p:nvSpPr>
          <p:cNvPr id="4" name="text-5-4">
            <a:extLst xmlns:a="http://schemas.openxmlformats.org/drawingml/2006/main">
              <a:ext uri="{FF2B5EF4-FFF2-40B4-BE49-F238E27FC236}">
                <a16:creationId xmlns:a16="http://schemas.microsoft.com/office/drawing/2014/main" id="{AFE896B7-87BC-402C-BDC2-35F1B79280CB}"/>
              </a:ext>
            </a:extLst>
          </p:cNvPr>
          <p:cNvSpPr>
            <a:spLocks xmlns:a="http://schemas.openxmlformats.org/drawingml/2006/main" noGrp="1"/>
          </p:cNvSpPr>
          <p:nvPr/>
        </p:nvSpPr>
        <p:spPr>
          <a:xfrm xmlns:a="http://schemas.openxmlformats.org/drawingml/2006/main">
            <a:off x="762000" y="2276475"/>
            <a:ext cx="48577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Student planning interface.</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Email-based accounts.</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Saved plans, progress and exports.</a:t>
            </a:r>
          </a:p>
        </p:txBody>
      </p:sp>
      <p:sp>
        <p:nvSpPr>
          <p:cNvPr id="5" name="text-5-5">
            <a:extLst xmlns:a="http://schemas.openxmlformats.org/drawingml/2006/main">
              <a:ext uri="{FF2B5EF4-FFF2-40B4-BE49-F238E27FC236}">
                <a16:creationId xmlns:a16="http://schemas.microsoft.com/office/drawing/2014/main" id="{1E1450AD-5AA1-4F8B-A8A3-54990E04D9AE}"/>
              </a:ext>
            </a:extLst>
          </p:cNvPr>
          <p:cNvSpPr>
            <a:spLocks xmlns:a="http://schemas.openxmlformats.org/drawingml/2006/main" noGrp="1"/>
          </p:cNvSpPr>
          <p:nvPr/>
        </p:nvSpPr>
        <p:spPr>
          <a:xfrm xmlns:a="http://schemas.openxmlformats.org/drawingml/2006/main">
            <a:off x="6572250" y="1695450"/>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Planned with pilot universities</a:t>
            </a:r>
          </a:p>
        </p:txBody>
      </p:sp>
      <p:sp>
        <p:nvSpPr>
          <p:cNvPr id="6" name="text-5-6">
            <a:extLst xmlns:a="http://schemas.openxmlformats.org/drawingml/2006/main">
              <a:ext uri="{FF2B5EF4-FFF2-40B4-BE49-F238E27FC236}">
                <a16:creationId xmlns:a16="http://schemas.microsoft.com/office/drawing/2014/main" id="{33384085-81DC-4C95-840B-B26A452DB604}"/>
              </a:ext>
            </a:extLst>
          </p:cNvPr>
          <p:cNvSpPr>
            <a:spLocks xmlns:a="http://schemas.openxmlformats.org/drawingml/2006/main" noGrp="1"/>
          </p:cNvSpPr>
          <p:nvPr/>
        </p:nvSpPr>
        <p:spPr>
          <a:xfrm xmlns:a="http://schemas.openxmlformats.org/drawingml/2006/main">
            <a:off x="6572250" y="2590800"/>
            <a:ext cx="4857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Student-ID accounts.</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Adviser accounts linked to advisees.</a:t>
            </a:r>
          </a:p>
          <a:p xmlns:a="http://schemas.openxmlformats.org/drawingml/2006/main">
            <a:pPr algn="l">
              <a:defRPr sz="2100" b="0">
                <a:solidFill>
                  <a:srgbClr val="172E2C"/>
                </a:solidFill>
                <a:latin typeface="Arial"/>
                <a:ea typeface="Arial"/>
                <a:cs typeface="Arial"/>
              </a:defRPr>
            </a:pPr>
            <a:r>
              <a:rPr sz="2100" b="0">
                <a:solidFill>
                  <a:srgbClr val="172E2C"/>
                </a:solidFill>
                <a:latin typeface="Arial"/>
                <a:ea typeface="Arial"/>
                <a:cs typeface="Arial"/>
              </a:rPr>
              <a:t>Shared plans within each university.</a:t>
            </a:r>
          </a:p>
        </p:txBody>
      </p:sp>
      <p:sp>
        <p:nvSpPr>
          <p:cNvPr id="7" name="text-5-7">
            <a:extLst xmlns:a="http://schemas.openxmlformats.org/drawingml/2006/main">
              <a:ext uri="{FF2B5EF4-FFF2-40B4-BE49-F238E27FC236}">
                <a16:creationId xmlns:a16="http://schemas.microsoft.com/office/drawing/2014/main" id="{3E4EDD6A-1EC8-4BBC-A959-CC7F247C6EFB}"/>
              </a:ext>
            </a:extLst>
          </p:cNvPr>
          <p:cNvSpPr>
            <a:spLocks xmlns:a="http://schemas.openxmlformats.org/drawingml/2006/main" noGrp="1"/>
          </p:cNvSpPr>
          <p:nvPr/>
        </p:nvSpPr>
        <p:spPr>
          <a:xfrm xmlns:a="http://schemas.openxmlformats.org/drawingml/2006/main">
            <a:off x="762000" y="44481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Pilot goal: shared advising</a:t>
            </a:r>
          </a:p>
        </p:txBody>
      </p:sp>
      <p:sp>
        <p:nvSpPr>
          <p:cNvPr id="8" name="text-5-8">
            <a:extLst xmlns:a="http://schemas.openxmlformats.org/drawingml/2006/main">
              <a:ext uri="{FF2B5EF4-FFF2-40B4-BE49-F238E27FC236}">
                <a16:creationId xmlns:a16="http://schemas.microsoft.com/office/drawing/2014/main" id="{46DE3552-66E7-44EE-BA4A-15EFB602A405}"/>
              </a:ext>
            </a:extLst>
          </p:cNvPr>
          <p:cNvSpPr>
            <a:spLocks xmlns:a="http://schemas.openxmlformats.org/drawingml/2006/main" noGrp="1"/>
          </p:cNvSpPr>
          <p:nvPr/>
        </p:nvSpPr>
        <p:spPr>
          <a:xfrm xmlns:a="http://schemas.openxmlformats.org/drawingml/2006/main">
            <a:off x="762000" y="5029200"/>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Students and advisers discuss the same plan.</a:t>
            </a:r>
          </a:p>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Each adviser can follow their assigned students.</a:t>
            </a:r>
          </a:p>
        </p:txBody>
      </p:sp>
      <p:sp>
        <p:nvSpPr>
          <p:cNvPr id="9" name="text-5-9">
            <a:extLst xmlns:a="http://schemas.openxmlformats.org/drawingml/2006/main">
              <a:ext uri="{FF2B5EF4-FFF2-40B4-BE49-F238E27FC236}">
                <a16:creationId xmlns:a16="http://schemas.microsoft.com/office/drawing/2014/main" id="{C2D54119-FBBE-4990-B525-0C8A3F64002A}"/>
              </a:ext>
            </a:extLst>
          </p:cNvPr>
          <p:cNvSpPr>
            <a:spLocks xmlns:a="http://schemas.openxmlformats.org/drawingml/2006/main" noGrp="1"/>
          </p:cNvSpPr>
          <p:nvPr/>
        </p:nvSpPr>
        <p:spPr>
          <a:xfrm xmlns:a="http://schemas.openxmlformats.org/drawingml/2006/main">
            <a:off x="762000" y="602932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47673"/>
                </a:solidFill>
                <a:latin typeface="Arial"/>
                <a:ea typeface="Arial"/>
                <a:cs typeface="Arial"/>
              </a:defRPr>
            </a:pPr>
            <a:r>
              <a:rPr sz="1800" b="0">
                <a:solidFill>
                  <a:srgbClr val="647673"/>
                </a:solidFill>
                <a:latin typeface="Arial"/>
                <a:ea typeface="Arial"/>
                <a:cs typeface="Arial"/>
              </a:rPr>
              <a:t>MVP built. No users, revenue or signed university partners yet.</a:t>
            </a:r>
          </a:p>
        </p:txBody>
      </p:sp>
    </p:spTree>
    <p:extLst>
      <p:ext uri="{BB962C8B-B14F-4D97-AF65-F5344CB8AC3E}">
        <p14:creationId xmlns:p14="http://schemas.microsoft.com/office/powerpoint/2010/main" val="7741549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6-1">
            <a:extLst xmlns:a="http://schemas.openxmlformats.org/drawingml/2006/main">
              <a:ext uri="{FF2B5EF4-FFF2-40B4-BE49-F238E27FC236}">
                <a16:creationId xmlns:a16="http://schemas.microsoft.com/office/drawing/2014/main" id="{0E1B0D6E-E024-4D5B-AB7E-CE522A3F1EAE}"/>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University-funded model</a:t>
            </a:r>
          </a:p>
        </p:txBody>
      </p:sp>
      <p:sp>
        <p:nvSpPr>
          <p:cNvPr id="2" name="text-6-2">
            <a:extLst xmlns:a="http://schemas.openxmlformats.org/drawingml/2006/main">
              <a:ext uri="{FF2B5EF4-FFF2-40B4-BE49-F238E27FC236}">
                <a16:creationId xmlns:a16="http://schemas.microsoft.com/office/drawing/2014/main" id="{F4108297-1473-4EF1-9039-1DACD77E7E54}"/>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6</a:t>
            </a:r>
          </a:p>
        </p:txBody>
      </p:sp>
      <p:sp>
        <p:nvSpPr>
          <p:cNvPr id="3" name="text-6-3">
            <a:extLst xmlns:a="http://schemas.openxmlformats.org/drawingml/2006/main">
              <a:ext uri="{FF2B5EF4-FFF2-40B4-BE49-F238E27FC236}">
                <a16:creationId xmlns:a16="http://schemas.microsoft.com/office/drawing/2014/main" id="{A530B85F-69F2-4982-85F9-2EE0C14E5E7C}"/>
              </a:ext>
            </a:extLst>
          </p:cNvPr>
          <p:cNvSpPr>
            <a:spLocks xmlns:a="http://schemas.openxmlformats.org/drawingml/2006/main" noGrp="1"/>
          </p:cNvSpPr>
          <p:nvPr/>
        </p:nvSpPr>
        <p:spPr>
          <a:xfrm xmlns:a="http://schemas.openxmlformats.org/drawingml/2006/main">
            <a:off x="762000" y="18097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University pays</a:t>
            </a:r>
          </a:p>
        </p:txBody>
      </p:sp>
      <p:sp>
        <p:nvSpPr>
          <p:cNvPr id="4" name="text-6-4">
            <a:extLst xmlns:a="http://schemas.openxmlformats.org/drawingml/2006/main">
              <a:ext uri="{FF2B5EF4-FFF2-40B4-BE49-F238E27FC236}">
                <a16:creationId xmlns:a16="http://schemas.microsoft.com/office/drawing/2014/main" id="{21F186F5-A316-4144-9C95-CB7AE80D776B}"/>
              </a:ext>
            </a:extLst>
          </p:cNvPr>
          <p:cNvSpPr>
            <a:spLocks xmlns:a="http://schemas.openxmlformats.org/drawingml/2006/main" noGrp="1"/>
          </p:cNvSpPr>
          <p:nvPr/>
        </p:nvSpPr>
        <p:spPr>
          <a:xfrm xmlns:a="http://schemas.openxmlformats.org/drawingml/2006/main">
            <a:off x="762000" y="227647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Partner universities fund access for their students.</a:t>
            </a:r>
          </a:p>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Students use GoPlan as a university-provided service.</a:t>
            </a:r>
          </a:p>
        </p:txBody>
      </p:sp>
      <p:sp>
        <p:nvSpPr>
          <p:cNvPr id="5" name="text-6-5">
            <a:extLst xmlns:a="http://schemas.openxmlformats.org/drawingml/2006/main">
              <a:ext uri="{FF2B5EF4-FFF2-40B4-BE49-F238E27FC236}">
                <a16:creationId xmlns:a16="http://schemas.microsoft.com/office/drawing/2014/main" id="{E393CDDB-3FCF-4B84-81FC-53C01D86D68E}"/>
              </a:ext>
            </a:extLst>
          </p:cNvPr>
          <p:cNvSpPr>
            <a:spLocks xmlns:a="http://schemas.openxmlformats.org/drawingml/2006/main" noGrp="1"/>
          </p:cNvSpPr>
          <p:nvPr/>
        </p:nvSpPr>
        <p:spPr>
          <a:xfrm xmlns:a="http://schemas.openxmlformats.org/drawingml/2006/main">
            <a:off x="762000" y="34480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Pilot before wider adoption</a:t>
            </a:r>
          </a:p>
        </p:txBody>
      </p:sp>
      <p:sp>
        <p:nvSpPr>
          <p:cNvPr id="6" name="text-6-6">
            <a:extLst xmlns:a="http://schemas.openxmlformats.org/drawingml/2006/main">
              <a:ext uri="{FF2B5EF4-FFF2-40B4-BE49-F238E27FC236}">
                <a16:creationId xmlns:a16="http://schemas.microsoft.com/office/drawing/2014/main" id="{DA36D21F-3377-4388-A180-24D72D21BB09}"/>
              </a:ext>
            </a:extLst>
          </p:cNvPr>
          <p:cNvSpPr>
            <a:spLocks xmlns:a="http://schemas.openxmlformats.org/drawingml/2006/main" noGrp="1"/>
          </p:cNvSpPr>
          <p:nvPr/>
        </p:nvSpPr>
        <p:spPr>
          <a:xfrm xmlns:a="http://schemas.openxmlformats.org/drawingml/2006/main">
            <a:off x="762000" y="391477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Agree the cohort, support needs and institutional pricing.</a:t>
            </a:r>
          </a:p>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Pilot results guide pricing and wider deployment.</a:t>
            </a:r>
          </a:p>
        </p:txBody>
      </p:sp>
      <p:sp>
        <p:nvSpPr>
          <p:cNvPr id="7" name="text-6-7">
            <a:extLst xmlns:a="http://schemas.openxmlformats.org/drawingml/2006/main">
              <a:ext uri="{FF2B5EF4-FFF2-40B4-BE49-F238E27FC236}">
                <a16:creationId xmlns:a16="http://schemas.microsoft.com/office/drawing/2014/main" id="{710D5D08-D5F5-4C5D-B1A5-1D70D47C960F}"/>
              </a:ext>
            </a:extLst>
          </p:cNvPr>
          <p:cNvSpPr>
            <a:spLocks xmlns:a="http://schemas.openxmlformats.org/drawingml/2006/main" noGrp="1"/>
          </p:cNvSpPr>
          <p:nvPr/>
        </p:nvSpPr>
        <p:spPr>
          <a:xfrm xmlns:a="http://schemas.openxmlformats.org/drawingml/2006/main">
            <a:off x="762000" y="54578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43C37"/>
                </a:solidFill>
                <a:latin typeface="Arial"/>
                <a:ea typeface="Arial"/>
                <a:cs typeface="Arial"/>
              </a:defRPr>
            </a:pPr>
            <a:r>
              <a:rPr sz="2400" b="1">
                <a:solidFill>
                  <a:srgbClr val="143C37"/>
                </a:solidFill>
                <a:latin typeface="Arial"/>
                <a:ea typeface="Arial"/>
                <a:cs typeface="Arial"/>
              </a:rPr>
              <a:t>Pilot partnerships are key to adoption and university funding.</a:t>
            </a:r>
          </a:p>
        </p:txBody>
      </p:sp>
    </p:spTree>
    <p:extLst>
      <p:ext uri="{BB962C8B-B14F-4D97-AF65-F5344CB8AC3E}">
        <p14:creationId xmlns:p14="http://schemas.microsoft.com/office/powerpoint/2010/main" val="19743363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7-1">
            <a:extLst xmlns:a="http://schemas.openxmlformats.org/drawingml/2006/main">
              <a:ext uri="{FF2B5EF4-FFF2-40B4-BE49-F238E27FC236}">
                <a16:creationId xmlns:a16="http://schemas.microsoft.com/office/drawing/2014/main" id="{365646DE-99B7-4C4D-A1C6-E1A5A5920893}"/>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Costs and funding</a:t>
            </a:r>
          </a:p>
        </p:txBody>
      </p:sp>
      <p:sp>
        <p:nvSpPr>
          <p:cNvPr id="2" name="text-7-2">
            <a:extLst xmlns:a="http://schemas.openxmlformats.org/drawingml/2006/main">
              <a:ext uri="{FF2B5EF4-FFF2-40B4-BE49-F238E27FC236}">
                <a16:creationId xmlns:a16="http://schemas.microsoft.com/office/drawing/2014/main" id="{CBB0413F-2350-4D20-AB6C-780DC926DD80}"/>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7</a:t>
            </a:r>
          </a:p>
        </p:txBody>
      </p:sp>
      <p:sp>
        <p:nvSpPr>
          <p:cNvPr id="3" name="text-7-3">
            <a:extLst xmlns:a="http://schemas.openxmlformats.org/drawingml/2006/main">
              <a:ext uri="{FF2B5EF4-FFF2-40B4-BE49-F238E27FC236}">
                <a16:creationId xmlns:a16="http://schemas.microsoft.com/office/drawing/2014/main" id="{B02E969A-5EA8-4AC5-99FE-A10FBA9EA9DD}"/>
              </a:ext>
            </a:extLst>
          </p:cNvPr>
          <p:cNvSpPr>
            <a:spLocks xmlns:a="http://schemas.openxmlformats.org/drawingml/2006/main" noGrp="1"/>
          </p:cNvSpPr>
          <p:nvPr/>
        </p:nvSpPr>
        <p:spPr>
          <a:xfrm xmlns:a="http://schemas.openxmlformats.org/drawingml/2006/main">
            <a:off x="762000" y="16954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Groq GPT-OSS 120B</a:t>
            </a:r>
          </a:p>
        </p:txBody>
      </p:sp>
      <p:sp>
        <p:nvSpPr>
          <p:cNvPr id="4" name="text-7-4">
            <a:extLst xmlns:a="http://schemas.openxmlformats.org/drawingml/2006/main">
              <a:ext uri="{FF2B5EF4-FFF2-40B4-BE49-F238E27FC236}">
                <a16:creationId xmlns:a16="http://schemas.microsoft.com/office/drawing/2014/main" id="{674C2CA5-5D0D-452A-87B6-E5017D10AE93}"/>
              </a:ext>
            </a:extLst>
          </p:cNvPr>
          <p:cNvSpPr>
            <a:spLocks xmlns:a="http://schemas.openxmlformats.org/drawingml/2006/main" noGrp="1"/>
          </p:cNvSpPr>
          <p:nvPr/>
        </p:nvSpPr>
        <p:spPr>
          <a:xfrm xmlns:a="http://schemas.openxmlformats.org/drawingml/2006/main">
            <a:off x="762000" y="2276475"/>
            <a:ext cx="4857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USD per 1 million tokens</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Input: $0.15</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Output: $0.60</a:t>
            </a:r>
          </a:p>
        </p:txBody>
      </p:sp>
      <p:sp>
        <p:nvSpPr>
          <p:cNvPr id="5" name="text-7-5">
            <a:extLst xmlns:a="http://schemas.openxmlformats.org/drawingml/2006/main">
              <a:ext uri="{FF2B5EF4-FFF2-40B4-BE49-F238E27FC236}">
                <a16:creationId xmlns:a16="http://schemas.microsoft.com/office/drawing/2014/main" id="{9E040F64-8F2D-48B2-8D99-969D8539A208}"/>
              </a:ext>
            </a:extLst>
          </p:cNvPr>
          <p:cNvSpPr>
            <a:spLocks xmlns:a="http://schemas.openxmlformats.org/drawingml/2006/main" noGrp="1"/>
          </p:cNvSpPr>
          <p:nvPr/>
        </p:nvSpPr>
        <p:spPr>
          <a:xfrm xmlns:a="http://schemas.openxmlformats.org/drawingml/2006/main">
            <a:off x="762000" y="375285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E2C"/>
                </a:solidFill>
                <a:latin typeface="Arial"/>
                <a:ea typeface="Arial"/>
                <a:cs typeface="Arial"/>
              </a:defRPr>
            </a:pPr>
            <a:r>
              <a:rPr sz="2550" b="1">
                <a:solidFill>
                  <a:srgbClr val="172E2C"/>
                </a:solidFill>
                <a:latin typeface="Arial"/>
                <a:ea typeface="Arial"/>
                <a:cs typeface="Arial"/>
              </a:rPr>
              <a:t>Example: $0.014 per plan</a:t>
            </a:r>
          </a:p>
        </p:txBody>
      </p:sp>
      <p:sp>
        <p:nvSpPr>
          <p:cNvPr id="6" name="text-7-6">
            <a:extLst xmlns:a="http://schemas.openxmlformats.org/drawingml/2006/main">
              <a:ext uri="{FF2B5EF4-FFF2-40B4-BE49-F238E27FC236}">
                <a16:creationId xmlns:a16="http://schemas.microsoft.com/office/drawing/2014/main" id="{1841BE83-673C-4F2B-9DC1-76226329F365}"/>
              </a:ext>
            </a:extLst>
          </p:cNvPr>
          <p:cNvSpPr>
            <a:spLocks xmlns:a="http://schemas.openxmlformats.org/drawingml/2006/main" noGrp="1"/>
          </p:cNvSpPr>
          <p:nvPr/>
        </p:nvSpPr>
        <p:spPr>
          <a:xfrm xmlns:a="http://schemas.openxmlformats.org/drawingml/2006/main">
            <a:off x="762000" y="4324350"/>
            <a:ext cx="4857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E2C"/>
                </a:solidFill>
                <a:latin typeface="Arial"/>
                <a:ea typeface="Arial"/>
                <a:cs typeface="Arial"/>
              </a:defRPr>
            </a:pPr>
            <a:r>
              <a:rPr sz="1875" b="0">
                <a:solidFill>
                  <a:srgbClr val="172E2C"/>
                </a:solidFill>
                <a:latin typeface="Arial"/>
                <a:ea typeface="Arial"/>
                <a:cs typeface="Arial"/>
              </a:rPr>
              <a:t>Illustration: 50k input + 10k output tokens.</a:t>
            </a:r>
          </a:p>
          <a:p xmlns:a="http://schemas.openxmlformats.org/drawingml/2006/main">
            <a:pPr algn="l">
              <a:defRPr sz="1875" b="0">
                <a:solidFill>
                  <a:srgbClr val="172E2C"/>
                </a:solidFill>
                <a:latin typeface="Arial"/>
                <a:ea typeface="Arial"/>
                <a:cs typeface="Arial"/>
              </a:defRPr>
            </a:pPr>
            <a:r>
              <a:rPr sz="1875" b="0">
                <a:solidFill>
                  <a:srgbClr val="172E2C"/>
                </a:solidFill>
                <a:latin typeface="Arial"/>
                <a:ea typeface="Arial"/>
                <a:cs typeface="Arial"/>
              </a:rPr>
              <a:t>Model tokens only, not a measured bill.</a:t>
            </a:r>
          </a:p>
          <a:p xmlns:a="http://schemas.openxmlformats.org/drawingml/2006/main">
            <a:pPr algn="l">
              <a:defRPr sz="1875" b="0">
                <a:solidFill>
                  <a:srgbClr val="172E2C"/>
                </a:solidFill>
                <a:latin typeface="Arial"/>
                <a:ea typeface="Arial"/>
                <a:cs typeface="Arial"/>
              </a:defRPr>
            </a:pPr>
            <a:r>
              <a:rPr sz="1875" b="0">
                <a:solidFill>
                  <a:srgbClr val="172E2C"/>
                </a:solidFill>
                <a:latin typeface="Arial"/>
                <a:ea typeface="Arial"/>
                <a:cs typeface="Arial"/>
              </a:rPr>
              <a:t>Research and revisions add cost.</a:t>
            </a:r>
          </a:p>
        </p:txBody>
      </p:sp>
      <p:sp>
        <p:nvSpPr>
          <p:cNvPr id="7" name="text-7-7">
            <a:extLst xmlns:a="http://schemas.openxmlformats.org/drawingml/2006/main">
              <a:ext uri="{FF2B5EF4-FFF2-40B4-BE49-F238E27FC236}">
                <a16:creationId xmlns:a16="http://schemas.microsoft.com/office/drawing/2014/main" id="{A858DAAE-1CF3-4A8B-BE83-AE54FCDDD71C}"/>
              </a:ext>
            </a:extLst>
          </p:cNvPr>
          <p:cNvSpPr>
            <a:spLocks xmlns:a="http://schemas.openxmlformats.org/drawingml/2006/main" noGrp="1"/>
          </p:cNvSpPr>
          <p:nvPr/>
        </p:nvSpPr>
        <p:spPr>
          <a:xfrm xmlns:a="http://schemas.openxmlformats.org/drawingml/2006/main">
            <a:off x="6572250" y="16954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Partner funding covers</a:t>
            </a:r>
          </a:p>
        </p:txBody>
      </p:sp>
      <p:sp>
        <p:nvSpPr>
          <p:cNvPr id="8" name="text-7-8">
            <a:extLst xmlns:a="http://schemas.openxmlformats.org/drawingml/2006/main">
              <a:ext uri="{FF2B5EF4-FFF2-40B4-BE49-F238E27FC236}">
                <a16:creationId xmlns:a16="http://schemas.microsoft.com/office/drawing/2014/main" id="{8DBF6EA0-0C83-4F6E-AA33-36D1C69BF08B}"/>
              </a:ext>
            </a:extLst>
          </p:cNvPr>
          <p:cNvSpPr>
            <a:spLocks xmlns:a="http://schemas.openxmlformats.org/drawingml/2006/main" noGrp="1"/>
          </p:cNvSpPr>
          <p:nvPr/>
        </p:nvSpPr>
        <p:spPr>
          <a:xfrm xmlns:a="http://schemas.openxmlformats.org/drawingml/2006/main">
            <a:off x="6572250" y="2276475"/>
            <a:ext cx="485775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AI and web research usage.</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Hosting, storage and authentication.</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Academic data review.</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Student and adviser pilot support.</a:t>
            </a:r>
          </a:p>
        </p:txBody>
      </p:sp>
      <p:sp>
        <p:nvSpPr>
          <p:cNvPr id="9" name="text-7-9">
            <a:extLst xmlns:a="http://schemas.openxmlformats.org/drawingml/2006/main">
              <a:ext uri="{FF2B5EF4-FFF2-40B4-BE49-F238E27FC236}">
                <a16:creationId xmlns:a16="http://schemas.microsoft.com/office/drawing/2014/main" id="{B6F276D6-D3D8-4761-ADEF-890041F0EFA2}"/>
              </a:ext>
            </a:extLst>
          </p:cNvPr>
          <p:cNvSpPr>
            <a:spLocks xmlns:a="http://schemas.openxmlformats.org/drawingml/2006/main" noGrp="1"/>
          </p:cNvSpPr>
          <p:nvPr/>
        </p:nvSpPr>
        <p:spPr>
          <a:xfrm xmlns:a="http://schemas.openxmlformats.org/drawingml/2006/main">
            <a:off x="6572250" y="476250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E2C"/>
                </a:solidFill>
                <a:latin typeface="Arial"/>
                <a:ea typeface="Arial"/>
                <a:cs typeface="Arial"/>
              </a:defRPr>
            </a:pPr>
            <a:r>
              <a:rPr sz="2175" b="1">
                <a:solidFill>
                  <a:srgbClr val="172E2C"/>
                </a:solidFill>
                <a:latin typeface="Arial"/>
                <a:ea typeface="Arial"/>
                <a:cs typeface="Arial"/>
              </a:rPr>
              <a:t>Seeking university-funded pilots.</a:t>
            </a:r>
          </a:p>
          <a:p xmlns:a="http://schemas.openxmlformats.org/drawingml/2006/main">
            <a:pPr algn="l">
              <a:defRPr sz="2175" b="1">
                <a:solidFill>
                  <a:srgbClr val="172E2C"/>
                </a:solidFill>
                <a:latin typeface="Arial"/>
                <a:ea typeface="Arial"/>
                <a:cs typeface="Arial"/>
              </a:defRPr>
            </a:pPr>
            <a:r>
              <a:rPr sz="2175" b="1">
                <a:solidFill>
                  <a:srgbClr val="172E2C"/>
                </a:solidFill>
                <a:latin typeface="Arial"/>
                <a:ea typeface="Arial"/>
                <a:cs typeface="Arial"/>
              </a:rPr>
              <a:t>Budget depends on pilot scope.</a:t>
            </a:r>
          </a:p>
        </p:txBody>
      </p:sp>
      <p:sp>
        <p:nvSpPr>
          <p:cNvPr id="10" name="text-7-10">
            <a:extLst xmlns:a="http://schemas.openxmlformats.org/drawingml/2006/main">
              <a:ext uri="{FF2B5EF4-FFF2-40B4-BE49-F238E27FC236}">
                <a16:creationId xmlns:a16="http://schemas.microsoft.com/office/drawing/2014/main" id="{39C90480-AE49-4248-B56B-DA0B43A313A3}"/>
              </a:ext>
            </a:extLst>
          </p:cNvPr>
          <p:cNvSpPr>
            <a:spLocks xmlns:a="http://schemas.openxmlformats.org/drawingml/2006/main" noGrp="1"/>
          </p:cNvSpPr>
          <p:nvPr/>
        </p:nvSpPr>
        <p:spPr>
          <a:xfrm xmlns:a="http://schemas.openxmlformats.org/drawingml/2006/main">
            <a:off x="762000" y="6076950"/>
            <a:ext cx="10382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hlinkClick xmlns:r="http://schemas.openxmlformats.org/officeDocument/2006/relationships" r:id="Rc86784be39974b0a"/>
              </a:rPr>
              <a:t>Groq public rates checked 6 October 2026</a:t>
            </a:r>
          </a:p>
        </p:txBody>
      </p:sp>
    </p:spTree>
    <p:extLst>
      <p:ext uri="{BB962C8B-B14F-4D97-AF65-F5344CB8AC3E}">
        <p14:creationId xmlns:p14="http://schemas.microsoft.com/office/powerpoint/2010/main" val="2114223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8-1">
            <a:extLst xmlns:a="http://schemas.openxmlformats.org/drawingml/2006/main">
              <a:ext uri="{FF2B5EF4-FFF2-40B4-BE49-F238E27FC236}">
                <a16:creationId xmlns:a16="http://schemas.microsoft.com/office/drawing/2014/main" id="{60070812-B36D-45C7-AFE2-C0D25DC6020D}"/>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Pilot and expansion</a:t>
            </a:r>
          </a:p>
        </p:txBody>
      </p:sp>
      <p:sp>
        <p:nvSpPr>
          <p:cNvPr id="2" name="text-8-2">
            <a:extLst xmlns:a="http://schemas.openxmlformats.org/drawingml/2006/main">
              <a:ext uri="{FF2B5EF4-FFF2-40B4-BE49-F238E27FC236}">
                <a16:creationId xmlns:a16="http://schemas.microsoft.com/office/drawing/2014/main" id="{52FA7B6D-9E3E-4364-8F5C-A72074A28032}"/>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8</a:t>
            </a:r>
          </a:p>
        </p:txBody>
      </p:sp>
      <p:sp>
        <p:nvSpPr>
          <p:cNvPr id="3" name="text-8-3">
            <a:extLst xmlns:a="http://schemas.openxmlformats.org/drawingml/2006/main">
              <a:ext uri="{FF2B5EF4-FFF2-40B4-BE49-F238E27FC236}">
                <a16:creationId xmlns:a16="http://schemas.microsoft.com/office/drawing/2014/main" id="{EF0CF8D0-1AA8-4301-8461-23426EDD6C4D}"/>
              </a:ext>
            </a:extLst>
          </p:cNvPr>
          <p:cNvSpPr>
            <a:spLocks xmlns:a="http://schemas.openxmlformats.org/drawingml/2006/main" noGrp="1"/>
          </p:cNvSpPr>
          <p:nvPr/>
        </p:nvSpPr>
        <p:spPr>
          <a:xfrm xmlns:a="http://schemas.openxmlformats.org/drawingml/2006/main">
            <a:off x="762000" y="17240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Partner</a:t>
            </a:r>
          </a:p>
        </p:txBody>
      </p:sp>
      <p:sp>
        <p:nvSpPr>
          <p:cNvPr id="4" name="text-8-4">
            <a:extLst xmlns:a="http://schemas.openxmlformats.org/drawingml/2006/main">
              <a:ext uri="{FF2B5EF4-FFF2-40B4-BE49-F238E27FC236}">
                <a16:creationId xmlns:a16="http://schemas.microsoft.com/office/drawing/2014/main" id="{3D9B830E-D85E-404B-B806-1780D5ADBF49}"/>
              </a:ext>
            </a:extLst>
          </p:cNvPr>
          <p:cNvSpPr>
            <a:spLocks xmlns:a="http://schemas.openxmlformats.org/drawingml/2006/main" noGrp="1"/>
          </p:cNvSpPr>
          <p:nvPr/>
        </p:nvSpPr>
        <p:spPr>
          <a:xfrm xmlns:a="http://schemas.openxmlformats.org/drawingml/2006/main">
            <a:off x="762000" y="219075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Secure a university sponsor and adviser participation.</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Review academic data and agree a small student cohort.</a:t>
            </a:r>
          </a:p>
        </p:txBody>
      </p:sp>
      <p:sp>
        <p:nvSpPr>
          <p:cNvPr id="5" name="text-8-5">
            <a:extLst xmlns:a="http://schemas.openxmlformats.org/drawingml/2006/main">
              <a:ext uri="{FF2B5EF4-FFF2-40B4-BE49-F238E27FC236}">
                <a16:creationId xmlns:a16="http://schemas.microsoft.com/office/drawing/2014/main" id="{62343EB7-D9D5-4FFF-A1DF-6B16FC76B22F}"/>
              </a:ext>
            </a:extLst>
          </p:cNvPr>
          <p:cNvSpPr>
            <a:spLocks xmlns:a="http://schemas.openxmlformats.org/drawingml/2006/main" noGrp="1"/>
          </p:cNvSpPr>
          <p:nvPr/>
        </p:nvSpPr>
        <p:spPr>
          <a:xfrm xmlns:a="http://schemas.openxmlformats.org/drawingml/2006/main">
            <a:off x="762000" y="32099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Build and test</a:t>
            </a:r>
          </a:p>
        </p:txBody>
      </p:sp>
      <p:sp>
        <p:nvSpPr>
          <p:cNvPr id="6" name="text-8-6">
            <a:extLst xmlns:a="http://schemas.openxmlformats.org/drawingml/2006/main">
              <a:ext uri="{FF2B5EF4-FFF2-40B4-BE49-F238E27FC236}">
                <a16:creationId xmlns:a16="http://schemas.microsoft.com/office/drawing/2014/main" id="{F4938E32-964A-4A17-937F-32BE8E526B0E}"/>
              </a:ext>
            </a:extLst>
          </p:cNvPr>
          <p:cNvSpPr>
            <a:spLocks xmlns:a="http://schemas.openxmlformats.org/drawingml/2006/main" noGrp="1"/>
          </p:cNvSpPr>
          <p:nvPr/>
        </p:nvSpPr>
        <p:spPr>
          <a:xfrm xmlns:a="http://schemas.openxmlformats.org/drawingml/2006/main">
            <a:off x="762000" y="367665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Add student-ID accounts and linked adviser workspaces.</a:t>
            </a:r>
          </a:p>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Measure accuracy, decision usefulness, time saved and cost.</a:t>
            </a:r>
          </a:p>
        </p:txBody>
      </p:sp>
      <p:sp>
        <p:nvSpPr>
          <p:cNvPr id="7" name="text-8-7">
            <a:extLst xmlns:a="http://schemas.openxmlformats.org/drawingml/2006/main">
              <a:ext uri="{FF2B5EF4-FFF2-40B4-BE49-F238E27FC236}">
                <a16:creationId xmlns:a16="http://schemas.microsoft.com/office/drawing/2014/main" id="{902AA504-28A7-46AF-AB79-4E8E6550AFC8}"/>
              </a:ext>
            </a:extLst>
          </p:cNvPr>
          <p:cNvSpPr>
            <a:spLocks xmlns:a="http://schemas.openxmlformats.org/drawingml/2006/main" noGrp="1"/>
          </p:cNvSpPr>
          <p:nvPr/>
        </p:nvSpPr>
        <p:spPr>
          <a:xfrm xmlns:a="http://schemas.openxmlformats.org/drawingml/2006/main">
            <a:off x="762000" y="46958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43C37"/>
                </a:solidFill>
                <a:latin typeface="Arial"/>
                <a:ea typeface="Arial"/>
                <a:cs typeface="Arial"/>
              </a:defRPr>
            </a:pPr>
            <a:r>
              <a:rPr sz="2250" b="1">
                <a:solidFill>
                  <a:srgbClr val="143C37"/>
                </a:solidFill>
                <a:latin typeface="Arial"/>
                <a:ea typeface="Arial"/>
                <a:cs typeface="Arial"/>
              </a:rPr>
              <a:t>Expand</a:t>
            </a:r>
          </a:p>
        </p:txBody>
      </p:sp>
      <p:sp>
        <p:nvSpPr>
          <p:cNvPr id="8" name="text-8-8">
            <a:extLst xmlns:a="http://schemas.openxmlformats.org/drawingml/2006/main">
              <a:ext uri="{FF2B5EF4-FFF2-40B4-BE49-F238E27FC236}">
                <a16:creationId xmlns:a16="http://schemas.microsoft.com/office/drawing/2014/main" id="{96C483E3-BFB1-47E5-AA67-A26E58ED94D8}"/>
              </a:ext>
            </a:extLst>
          </p:cNvPr>
          <p:cNvSpPr>
            <a:spLocks xmlns:a="http://schemas.openxmlformats.org/drawingml/2006/main" noGrp="1"/>
          </p:cNvSpPr>
          <p:nvPr/>
        </p:nvSpPr>
        <p:spPr>
          <a:xfrm xmlns:a="http://schemas.openxmlformats.org/drawingml/2006/main">
            <a:off x="762000" y="516255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E2C"/>
                </a:solidFill>
                <a:latin typeface="Arial"/>
                <a:ea typeface="Arial"/>
                <a:cs typeface="Arial"/>
              </a:defRPr>
            </a:pPr>
            <a:r>
              <a:rPr sz="2175" b="0">
                <a:solidFill>
                  <a:srgbClr val="172E2C"/>
                </a:solidFill>
                <a:latin typeface="Arial"/>
                <a:ea typeface="Arial"/>
                <a:cs typeface="Arial"/>
              </a:rPr>
              <a:t>Use pilot results to agree pricing and serve more universities.</a:t>
            </a:r>
          </a:p>
        </p:txBody>
      </p:sp>
      <p:sp>
        <p:nvSpPr>
          <p:cNvPr id="9" name="text-8-9">
            <a:extLst xmlns:a="http://schemas.openxmlformats.org/drawingml/2006/main">
              <a:ext uri="{FF2B5EF4-FFF2-40B4-BE49-F238E27FC236}">
                <a16:creationId xmlns:a16="http://schemas.microsoft.com/office/drawing/2014/main" id="{FAAE743E-B6B8-4154-B4E2-71286823BAFF}"/>
              </a:ext>
            </a:extLst>
          </p:cNvPr>
          <p:cNvSpPr>
            <a:spLocks xmlns:a="http://schemas.openxmlformats.org/drawingml/2006/main" noGrp="1"/>
          </p:cNvSpPr>
          <p:nvPr/>
        </p:nvSpPr>
        <p:spPr>
          <a:xfrm xmlns:a="http://schemas.openxmlformats.org/drawingml/2006/main">
            <a:off x="762000" y="59626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3C37"/>
                </a:solidFill>
                <a:latin typeface="Arial"/>
                <a:ea typeface="Arial"/>
                <a:cs typeface="Arial"/>
              </a:defRPr>
            </a:pPr>
            <a:r>
              <a:rPr sz="1950" b="1">
                <a:solidFill>
                  <a:srgbClr val="143C37"/>
                </a:solidFill>
                <a:latin typeface="Arial"/>
                <a:ea typeface="Arial"/>
                <a:cs typeface="Arial"/>
              </a:rPr>
              <a:t>Seeking university partners for funded pilots and academic review.</a:t>
            </a:r>
          </a:p>
        </p:txBody>
      </p:sp>
    </p:spTree>
    <p:extLst>
      <p:ext uri="{BB962C8B-B14F-4D97-AF65-F5344CB8AC3E}">
        <p14:creationId xmlns:p14="http://schemas.microsoft.com/office/powerpoint/2010/main" val="14306276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9-1">
            <a:extLst xmlns:a="http://schemas.openxmlformats.org/drawingml/2006/main">
              <a:ext uri="{FF2B5EF4-FFF2-40B4-BE49-F238E27FC236}">
                <a16:creationId xmlns:a16="http://schemas.microsoft.com/office/drawing/2014/main" id="{5B257290-ED41-4012-970B-FB7E4A928E3C}"/>
              </a:ext>
            </a:extLst>
          </p:cNvPr>
          <p:cNvSpPr>
            <a:spLocks xmlns:a="http://schemas.openxmlformats.org/drawingml/2006/main" noGrp="1"/>
          </p:cNvSpPr>
          <p:nvPr/>
        </p:nvSpPr>
        <p:spPr>
          <a:xfrm xmlns:a="http://schemas.openxmlformats.org/drawingml/2006/main">
            <a:off x="762000" y="5905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43C37"/>
                </a:solidFill>
                <a:latin typeface="Arial"/>
                <a:ea typeface="Arial"/>
                <a:cs typeface="Arial"/>
              </a:defRPr>
            </a:pPr>
            <a:r>
              <a:rPr sz="3450" b="1">
                <a:solidFill>
                  <a:srgbClr val="143C37"/>
                </a:solidFill>
                <a:latin typeface="Arial"/>
                <a:ea typeface="Arial"/>
                <a:cs typeface="Arial"/>
              </a:rPr>
              <a:t>Founder and contact</a:t>
            </a:r>
          </a:p>
        </p:txBody>
      </p:sp>
      <p:sp>
        <p:nvSpPr>
          <p:cNvPr id="2" name="text-9-2">
            <a:extLst xmlns:a="http://schemas.openxmlformats.org/drawingml/2006/main">
              <a:ext uri="{FF2B5EF4-FFF2-40B4-BE49-F238E27FC236}">
                <a16:creationId xmlns:a16="http://schemas.microsoft.com/office/drawing/2014/main" id="{E595DE71-FE8D-4768-89A2-411B0D33E19B}"/>
              </a:ext>
            </a:extLst>
          </p:cNvPr>
          <p:cNvSpPr>
            <a:spLocks xmlns:a="http://schemas.openxmlformats.org/drawingml/2006/main" noGrp="1"/>
          </p:cNvSpPr>
          <p:nvPr/>
        </p:nvSpPr>
        <p:spPr>
          <a:xfrm xmlns:a="http://schemas.openxmlformats.org/drawingml/2006/main">
            <a:off x="11087100" y="62579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47673"/>
                </a:solidFill>
                <a:latin typeface="Arial"/>
                <a:ea typeface="Arial"/>
                <a:cs typeface="Arial"/>
              </a:defRPr>
            </a:pPr>
            <a:r>
              <a:rPr sz="1650" b="0">
                <a:solidFill>
                  <a:srgbClr val="647673"/>
                </a:solidFill>
                <a:latin typeface="Arial"/>
                <a:ea typeface="Arial"/>
                <a:cs typeface="Arial"/>
              </a:rPr>
              <a:t>9</a:t>
            </a:r>
          </a:p>
        </p:txBody>
      </p:sp>
      <p:sp>
        <p:nvSpPr>
          <p:cNvPr id="3" name="text-9-3">
            <a:extLst xmlns:a="http://schemas.openxmlformats.org/drawingml/2006/main">
              <a:ext uri="{FF2B5EF4-FFF2-40B4-BE49-F238E27FC236}">
                <a16:creationId xmlns:a16="http://schemas.microsoft.com/office/drawing/2014/main" id="{F067859C-B1A7-4FE7-B7C7-5AB69D7D006A}"/>
              </a:ext>
            </a:extLst>
          </p:cNvPr>
          <p:cNvSpPr>
            <a:spLocks xmlns:a="http://schemas.openxmlformats.org/drawingml/2006/main" noGrp="1"/>
          </p:cNvSpPr>
          <p:nvPr/>
        </p:nvSpPr>
        <p:spPr>
          <a:xfrm xmlns:a="http://schemas.openxmlformats.org/drawingml/2006/main">
            <a:off x="762000" y="168592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2E2C"/>
                </a:solidFill>
                <a:latin typeface="Arial"/>
                <a:ea typeface="Arial"/>
                <a:cs typeface="Arial"/>
              </a:defRPr>
            </a:pPr>
            <a:r>
              <a:rPr sz="3450" b="1">
                <a:solidFill>
                  <a:srgbClr val="172E2C"/>
                </a:solidFill>
                <a:latin typeface="Arial"/>
                <a:ea typeface="Arial"/>
                <a:cs typeface="Arial"/>
              </a:rPr>
              <a:t>Soulaymane Alahiane</a:t>
            </a:r>
          </a:p>
        </p:txBody>
      </p:sp>
      <p:sp>
        <p:nvSpPr>
          <p:cNvPr id="4" name="text-9-4">
            <a:extLst xmlns:a="http://schemas.openxmlformats.org/drawingml/2006/main">
              <a:ext uri="{FF2B5EF4-FFF2-40B4-BE49-F238E27FC236}">
                <a16:creationId xmlns:a16="http://schemas.microsoft.com/office/drawing/2014/main" id="{AF2983FD-F428-44B6-B1F5-4A5AA81F2C32}"/>
              </a:ext>
            </a:extLst>
          </p:cNvPr>
          <p:cNvSpPr>
            <a:spLocks xmlns:a="http://schemas.openxmlformats.org/drawingml/2006/main" noGrp="1"/>
          </p:cNvSpPr>
          <p:nvPr/>
        </p:nvSpPr>
        <p:spPr>
          <a:xfrm xmlns:a="http://schemas.openxmlformats.org/drawingml/2006/main">
            <a:off x="762000" y="2447925"/>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E2C"/>
                </a:solidFill>
                <a:latin typeface="Arial"/>
                <a:ea typeface="Arial"/>
                <a:cs typeface="Arial"/>
              </a:defRPr>
            </a:pPr>
            <a:r>
              <a:rPr sz="2250" b="0">
                <a:solidFill>
                  <a:srgbClr val="172E2C"/>
                </a:solidFill>
                <a:latin typeface="Arial"/>
                <a:ea typeface="Arial"/>
                <a:cs typeface="Arial"/>
              </a:rPr>
              <a:t>Founder. Built the MVP and leads product development.</a:t>
            </a:r>
          </a:p>
        </p:txBody>
      </p:sp>
      <p:sp>
        <p:nvSpPr>
          <p:cNvPr id="5" name="text-9-5">
            <a:extLst xmlns:a="http://schemas.openxmlformats.org/drawingml/2006/main">
              <a:ext uri="{FF2B5EF4-FFF2-40B4-BE49-F238E27FC236}">
                <a16:creationId xmlns:a16="http://schemas.microsoft.com/office/drawing/2014/main" id="{23CAF33B-23F0-4D89-9793-A2A684590E2F}"/>
              </a:ext>
            </a:extLst>
          </p:cNvPr>
          <p:cNvSpPr>
            <a:spLocks xmlns:a="http://schemas.openxmlformats.org/drawingml/2006/main" noGrp="1"/>
          </p:cNvSpPr>
          <p:nvPr/>
        </p:nvSpPr>
        <p:spPr>
          <a:xfrm xmlns:a="http://schemas.openxmlformats.org/drawingml/2006/main">
            <a:off x="762000" y="34766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1887B"/>
                </a:solidFill>
                <a:latin typeface="Arial"/>
                <a:ea typeface="Arial"/>
                <a:cs typeface="Arial"/>
              </a:defRPr>
            </a:pPr>
            <a:r>
              <a:rPr sz="2250" b="0">
                <a:solidFill>
                  <a:srgbClr val="21887B"/>
                </a:solidFill>
                <a:latin typeface="Arial"/>
                <a:ea typeface="Arial"/>
                <a:cs typeface="Arial"/>
                <a:hlinkClick xmlns:r="http://schemas.openxmlformats.org/officeDocument/2006/relationships" r:id="R6dfc06aef01a4ec1"/>
              </a:rPr>
              <a:t>S.Alahiane@aui.ma</a:t>
            </a:r>
          </a:p>
        </p:txBody>
      </p:sp>
      <p:sp>
        <p:nvSpPr>
          <p:cNvPr id="6" name="text-9-6">
            <a:extLst xmlns:a="http://schemas.openxmlformats.org/drawingml/2006/main">
              <a:ext uri="{FF2B5EF4-FFF2-40B4-BE49-F238E27FC236}">
                <a16:creationId xmlns:a16="http://schemas.microsoft.com/office/drawing/2014/main" id="{327B8076-C291-4546-BA30-2F5CFE889925}"/>
              </a:ext>
            </a:extLst>
          </p:cNvPr>
          <p:cNvSpPr>
            <a:spLocks xmlns:a="http://schemas.openxmlformats.org/drawingml/2006/main" noGrp="1"/>
          </p:cNvSpPr>
          <p:nvPr/>
        </p:nvSpPr>
        <p:spPr>
          <a:xfrm xmlns:a="http://schemas.openxmlformats.org/drawingml/2006/main">
            <a:off x="762000" y="40481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1887B"/>
                </a:solidFill>
                <a:latin typeface="Arial"/>
                <a:ea typeface="Arial"/>
                <a:cs typeface="Arial"/>
              </a:defRPr>
            </a:pPr>
            <a:r>
              <a:rPr sz="2100" b="0">
                <a:solidFill>
                  <a:srgbClr val="21887B"/>
                </a:solidFill>
                <a:latin typeface="Arial"/>
                <a:ea typeface="Arial"/>
                <a:cs typeface="Arial"/>
                <a:hlinkClick xmlns:r="http://schemas.openxmlformats.org/officeDocument/2006/relationships" r:id="R42382b6692f149ac"/>
              </a:rPr>
              <a:t>Website: planwithgoplan.com</a:t>
            </a:r>
          </a:p>
        </p:txBody>
      </p:sp>
      <p:sp>
        <p:nvSpPr>
          <p:cNvPr id="7" name="text-9-7">
            <a:extLst xmlns:a="http://schemas.openxmlformats.org/drawingml/2006/main">
              <a:ext uri="{FF2B5EF4-FFF2-40B4-BE49-F238E27FC236}">
                <a16:creationId xmlns:a16="http://schemas.microsoft.com/office/drawing/2014/main" id="{B86AC3F5-705E-420D-B039-9A9E4294BAD8}"/>
              </a:ext>
            </a:extLst>
          </p:cNvPr>
          <p:cNvSpPr>
            <a:spLocks xmlns:a="http://schemas.openxmlformats.org/drawingml/2006/main" noGrp="1"/>
          </p:cNvSpPr>
          <p:nvPr/>
        </p:nvSpPr>
        <p:spPr>
          <a:xfrm xmlns:a="http://schemas.openxmlformats.org/drawingml/2006/main">
            <a:off x="762000" y="46196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1887B"/>
                </a:solidFill>
                <a:latin typeface="Arial"/>
                <a:ea typeface="Arial"/>
                <a:cs typeface="Arial"/>
              </a:defRPr>
            </a:pPr>
            <a:r>
              <a:rPr sz="2025" b="0">
                <a:solidFill>
                  <a:srgbClr val="21887B"/>
                </a:solidFill>
                <a:latin typeface="Arial"/>
                <a:ea typeface="Arial"/>
                <a:cs typeface="Arial"/>
                <a:hlinkClick xmlns:r="http://schemas.openxmlformats.org/officeDocument/2006/relationships" r:id="R5a2a2d98132741f6"/>
              </a:rPr>
              <a:t>LinkedIn: linkedin.com/in/soulaymane-alahiane-0b18a32b6</a:t>
            </a:r>
          </a:p>
        </p:txBody>
      </p:sp>
    </p:spTree>
    <p:extLst>
      <p:ext uri="{BB962C8B-B14F-4D97-AF65-F5344CB8AC3E}">
        <p14:creationId xmlns:p14="http://schemas.microsoft.com/office/powerpoint/2010/main" val="13435484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2026-10-06T09:51:58.8510000Z</dcterms:created>
  <dcterms:modified xsi:type="dcterms:W3CDTF">2026-10-06T09:51:58.8510000Z</dcterms:modified>
</coreProperties>
</file>